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CampusMind AI</a:t>
            </a:r>
          </a:p>
          <a:p>
            <a:r>
              <a:t>Empowering Academic Well-being &amp; Productivity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Module: CMP 7003 - PRES1</a:t>
            </a:r>
          </a:p>
          <a:p>
            <a:r>
              <a:t>Presentation by [Your Name]</a:t>
            </a:r>
          </a:p>
          <a:p>
            <a:r>
              <a:t>Student ID: [Your ID]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&amp; Problem Definition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1000"/>
              </a:spcBef>
            </a:pPr>
            <a:r>
              <a:t>The Academic Workload Challenge:</a:t>
            </a:r>
          </a:p>
          <a:p>
            <a:pPr>
              <a:spcBef>
                <a:spcPts val="500"/>
              </a:spcBef>
            </a:pPr>
            <a:r>
              <a:t>• Academics juggle teaching, research, and high administrative burdens.</a:t>
            </a:r>
          </a:p>
          <a:p>
            <a:pPr>
              <a:spcBef>
                <a:spcPts val="500"/>
              </a:spcBef>
            </a:pPr>
            <a:r>
              <a:t>• Existing tools are highly fragmented (emails, spreadsheets, separate calendars).</a:t>
            </a:r>
          </a:p>
          <a:p>
            <a:pPr>
              <a:spcBef>
                <a:spcPts val="500"/>
              </a:spcBef>
            </a:pPr>
            <a:r>
              <a:t>• This leads to high cognitive load and severe risk of burnout.</a:t>
            </a:r>
          </a:p>
          <a:p>
            <a:pPr>
              <a:spcBef>
                <a:spcPts val="500"/>
              </a:spcBef>
            </a:pPr>
          </a:p>
          <a:p>
            <a:pPr>
              <a:spcBef>
                <a:spcPts val="500"/>
              </a:spcBef>
            </a:pPr>
            <a:r>
              <a:t>The Solution: CampusMind AI</a:t>
            </a:r>
          </a:p>
          <a:p>
            <a:pPr>
              <a:spcBef>
                <a:spcPts val="500"/>
              </a:spcBef>
            </a:pPr>
            <a:r>
              <a:t>• A unified mobile dashboard tailored for faculty members.</a:t>
            </a:r>
          </a:p>
          <a:p>
            <a:pPr>
              <a:spcBef>
                <a:spcPts val="500"/>
              </a:spcBef>
            </a:pPr>
            <a:r>
              <a:t>• Integrates scheduling, real-time burnout tracking, and AI-assisted task management.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 &amp; Tech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1000"/>
              </a:spcBef>
            </a:pPr>
            <a:r>
              <a:t>Frontend Framework:</a:t>
            </a:r>
          </a:p>
          <a:p>
            <a:pPr>
              <a:spcBef>
                <a:spcPts val="500"/>
              </a:spcBef>
            </a:pPr>
            <a:r>
              <a:t>• React Native with Expo (cross-platform deployment).</a:t>
            </a:r>
          </a:p>
          <a:p>
            <a:pPr>
              <a:spcBef>
                <a:spcPts val="500"/>
              </a:spcBef>
            </a:pPr>
            <a:r>
              <a:t>• Expo Router for modern, file-based routing and navigation.</a:t>
            </a:r>
          </a:p>
          <a:p>
            <a:pPr>
              <a:spcBef>
                <a:spcPts val="500"/>
              </a:spcBef>
            </a:pPr>
          </a:p>
          <a:p>
            <a:pPr>
              <a:spcBef>
                <a:spcPts val="500"/>
              </a:spcBef>
            </a:pPr>
            <a:r>
              <a:t>Backend &amp; Real-time Database:</a:t>
            </a:r>
          </a:p>
          <a:p>
            <a:pPr>
              <a:spcBef>
                <a:spcPts val="500"/>
              </a:spcBef>
            </a:pPr>
            <a:r>
              <a:t>• Firebase Authentication for secure user sessions.</a:t>
            </a:r>
          </a:p>
          <a:p>
            <a:pPr>
              <a:spcBef>
                <a:spcPts val="500"/>
              </a:spcBef>
            </a:pPr>
            <a:r>
              <a:t>• Cloud Firestore NoSQL database for real-time synchronization.</a:t>
            </a:r>
          </a:p>
          <a:p>
            <a:pPr>
              <a:spcBef>
                <a:spcPts val="500"/>
              </a:spcBef>
            </a:pPr>
          </a:p>
          <a:p>
            <a:pPr>
              <a:spcBef>
                <a:spcPts val="500"/>
              </a:spcBef>
            </a:pPr>
            <a:r>
              <a:t>Intelligent Features:</a:t>
            </a:r>
          </a:p>
          <a:p>
            <a:pPr>
              <a:spcBef>
                <a:spcPts val="500"/>
              </a:spcBef>
            </a:pPr>
            <a:r>
              <a:t>• Gemini AI API for generating contextual email drafts and well-being insights.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Mobile SDK &amp; Device Integration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1000"/>
              </a:spcBef>
            </a:pPr>
            <a:r>
              <a:t>Fulfilling key mobile platform learning outcomes:</a:t>
            </a:r>
          </a:p>
          <a:p>
            <a:pPr>
              <a:spcBef>
                <a:spcPts val="500"/>
              </a:spcBef>
            </a:pPr>
          </a:p>
          <a:p>
            <a:pPr>
              <a:spcBef>
                <a:spcPts val="500"/>
              </a:spcBef>
            </a:pPr>
            <a:r>
              <a:t>1. Calendar SDK (expo-calendar):</a:t>
            </a:r>
          </a:p>
          <a:p>
            <a:pPr>
              <a:spcBef>
                <a:spcPts val="500"/>
              </a:spcBef>
            </a:pPr>
            <a:r>
              <a:t>   • Syncs university academic planners directly with the user's native device calendar.</a:t>
            </a:r>
          </a:p>
          <a:p>
            <a:pPr>
              <a:spcBef>
                <a:spcPts val="500"/>
              </a:spcBef>
            </a:pPr>
            <a:r>
              <a:t>2. Persistent Storage (AsyncStorage):</a:t>
            </a:r>
          </a:p>
          <a:p>
            <a:pPr>
              <a:spcBef>
                <a:spcPts val="500"/>
              </a:spcBef>
            </a:pPr>
            <a:r>
              <a:t>   • Caches user preferences and custom theme settings for offline access.</a:t>
            </a:r>
          </a:p>
          <a:p>
            <a:pPr>
              <a:spcBef>
                <a:spcPts val="500"/>
              </a:spcBef>
            </a:pPr>
            <a:r>
              <a:t>3. Multimedia (expo-image):</a:t>
            </a:r>
          </a:p>
          <a:p>
            <a:pPr>
              <a:spcBef>
                <a:spcPts val="500"/>
              </a:spcBef>
            </a:pPr>
            <a:r>
              <a:t>   • Optimized rendering for parallax graphics and responsive UI components.</a:t>
            </a:r>
          </a:p>
          <a:p>
            <a:pPr>
              <a:spcBef>
                <a:spcPts val="500"/>
              </a:spcBef>
            </a:pPr>
            <a:r>
              <a:t>4. Haptics (expo-haptics):</a:t>
            </a:r>
          </a:p>
          <a:p>
            <a:pPr>
              <a:spcBef>
                <a:spcPts val="500"/>
              </a:spcBef>
            </a:pPr>
            <a:r>
              <a:t>   • Tactile feedback during critical UI interactions.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UI/UX &amp; Design Principles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1000"/>
              </a:spcBef>
            </a:pPr>
            <a:r>
              <a:t>Designed to reduce cognitive load:</a:t>
            </a:r>
          </a:p>
          <a:p>
            <a:pPr>
              <a:spcBef>
                <a:spcPts val="500"/>
              </a:spcBef>
            </a:pPr>
          </a:p>
          <a:p>
            <a:pPr>
              <a:spcBef>
                <a:spcPts val="500"/>
              </a:spcBef>
            </a:pPr>
            <a:r>
              <a:t>• Custom Theme Engine (SettingsContext): Fully supports Light and Dark modes.</a:t>
            </a:r>
          </a:p>
          <a:p>
            <a:pPr>
              <a:spcBef>
                <a:spcPts val="500"/>
              </a:spcBef>
            </a:pPr>
            <a:r>
              <a:t>• Color Psychology: Activities and burnout risks are color-coded (e.g., Red = High Risk, Green = Low Risk).</a:t>
            </a:r>
          </a:p>
          <a:p>
            <a:pPr>
              <a:spcBef>
                <a:spcPts val="500"/>
              </a:spcBef>
            </a:pPr>
            <a:r>
              <a:t>• Glassmorphism UI: Clean, subtle overlays that highlight critical data without overwhelming the user.</a:t>
            </a:r>
          </a:p>
          <a:p>
            <a:pPr>
              <a:spcBef>
                <a:spcPts val="500"/>
              </a:spcBef>
            </a:pPr>
            <a:r>
              <a:t>• Unified Dashboard: All critical metrics (Schedule, Workload, Emails) accessible in one tap.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Demonstration of Application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1000"/>
              </a:spcBef>
            </a:pPr>
            <a:r>
              <a:t>Live Walkthrough of Key Features:</a:t>
            </a:r>
          </a:p>
          <a:p>
            <a:pPr>
              <a:spcBef>
                <a:spcPts val="500"/>
              </a:spcBef>
            </a:pPr>
          </a:p>
          <a:p>
            <a:pPr>
              <a:spcBef>
                <a:spcPts val="500"/>
              </a:spcBef>
            </a:pPr>
            <a:r>
              <a:t>1. Secure Authentication &amp; Onboarding (Firebase Auth).</a:t>
            </a:r>
          </a:p>
          <a:p>
            <a:pPr>
              <a:spcBef>
                <a:spcPts val="500"/>
              </a:spcBef>
            </a:pPr>
            <a:r>
              <a:t>2. Unified Dashboard: Real-time schedule sync and quick statistics.</a:t>
            </a:r>
          </a:p>
          <a:p>
            <a:pPr>
              <a:spcBef>
                <a:spcPts val="500"/>
              </a:spcBef>
            </a:pPr>
            <a:r>
              <a:t>3. Academic Planner: Color-coded scheduling linked to device calendars.</a:t>
            </a:r>
          </a:p>
          <a:p>
            <a:pPr>
              <a:spcBef>
                <a:spcPts val="500"/>
              </a:spcBef>
            </a:pPr>
            <a:r>
              <a:t>4. Burnout Monitor: Interactive charts (react-native-chart-kit) tracking stress levels.</a:t>
            </a:r>
          </a:p>
          <a:p>
            <a:pPr>
              <a:spcBef>
                <a:spcPts val="500"/>
              </a:spcBef>
            </a:pPr>
            <a:r>
              <a:t>5. AI Email Assistant: Automated drafting of student responses using Gemini API.</a:t>
            </a:r>
          </a:p>
          <a:p>
            <a:pPr>
              <a:spcBef>
                <a:spcPts val="500"/>
              </a:spcBef>
            </a:pPr>
            <a:r>
              <a:t>6. Floating AI Button: Contextual help accessible from any screen.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Justification of Design Decisions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1000"/>
              </a:spcBef>
            </a:pPr>
            <a:r>
              <a:t>Why Expo Router over standard React Navigation?</a:t>
            </a:r>
          </a:p>
          <a:p>
            <a:pPr>
              <a:spcBef>
                <a:spcPts val="500"/>
              </a:spcBef>
            </a:pPr>
            <a:r>
              <a:t>• File-based routing mathematically maps the directory structure, ensuring a highly scalable and maintainable codebase.</a:t>
            </a:r>
          </a:p>
          <a:p>
            <a:pPr>
              <a:spcBef>
                <a:spcPts val="500"/>
              </a:spcBef>
            </a:pPr>
          </a:p>
          <a:p>
            <a:pPr>
              <a:spcBef>
                <a:spcPts val="500"/>
              </a:spcBef>
            </a:pPr>
            <a:r>
              <a:t>Why Firebase Firestore?</a:t>
            </a:r>
          </a:p>
          <a:p>
            <a:pPr>
              <a:spcBef>
                <a:spcPts val="500"/>
              </a:spcBef>
            </a:pPr>
            <a:r>
              <a:t>• Academics need instant updates across devices. Firestore's real-time NoSQL sync guarantees the dashboard is always current.</a:t>
            </a:r>
          </a:p>
          <a:p>
            <a:pPr>
              <a:spcBef>
                <a:spcPts val="500"/>
              </a:spcBef>
            </a:pPr>
          </a:p>
          <a:p>
            <a:pPr>
              <a:spcBef>
                <a:spcPts val="500"/>
              </a:spcBef>
            </a:pPr>
            <a:r>
              <a:t>Why React Context API?</a:t>
            </a:r>
          </a:p>
          <a:p>
            <a:pPr>
              <a:spcBef>
                <a:spcPts val="500"/>
              </a:spcBef>
            </a:pPr>
            <a:r>
              <a:t>• Used for global Auth and Theme state. Avoided Redux to keep the architecture lightweight and highly performant.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Critical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1000"/>
              </a:spcBef>
            </a:pPr>
            <a:r>
              <a:t>Performance:</a:t>
            </a:r>
          </a:p>
          <a:p>
            <a:pPr>
              <a:spcBef>
                <a:spcPts val="500"/>
              </a:spcBef>
            </a:pPr>
            <a:r>
              <a:t>• Used useMemo and useCallback React hooks to prevent heavy dashboard recalculations (e.g., burnout score).</a:t>
            </a:r>
          </a:p>
          <a:p>
            <a:pPr>
              <a:spcBef>
                <a:spcPts val="500"/>
              </a:spcBef>
            </a:pPr>
            <a:r>
              <a:t>• App maintains a smooth 60fps even with real-time data streaming.</a:t>
            </a:r>
          </a:p>
          <a:p>
            <a:pPr>
              <a:spcBef>
                <a:spcPts val="500"/>
              </a:spcBef>
            </a:pPr>
          </a:p>
          <a:p>
            <a:pPr>
              <a:spcBef>
                <a:spcPts val="500"/>
              </a:spcBef>
            </a:pPr>
            <a:r>
              <a:t>Security:</a:t>
            </a:r>
          </a:p>
          <a:p>
            <a:pPr>
              <a:spcBef>
                <a:spcPts val="500"/>
              </a:spcBef>
            </a:pPr>
            <a:r>
              <a:t>• Strict Firestore Security Rules ensure users can only access their specific UID data.</a:t>
            </a:r>
          </a:p>
          <a:p>
            <a:pPr>
              <a:spcBef>
                <a:spcPts val="500"/>
              </a:spcBef>
            </a:pPr>
            <a:r>
              <a:t>• Firebase Auth tokens secure all backend communications.</a:t>
            </a:r>
          </a:p>
          <a:p>
            <a:pPr>
              <a:spcBef>
                <a:spcPts val="500"/>
              </a:spcBef>
            </a:pPr>
          </a:p>
          <a:p>
            <a:pPr>
              <a:spcBef>
                <a:spcPts val="500"/>
              </a:spcBef>
            </a:pPr>
            <a:r>
              <a:t>Scalability:</a:t>
            </a:r>
          </a:p>
          <a:p>
            <a:pPr>
              <a:spcBef>
                <a:spcPts val="500"/>
              </a:spcBef>
            </a:pPr>
            <a:r>
              <a:t>• The serverless Firebase backend scales automatically with user traffic.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 &amp; 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1000"/>
              </a:spcBef>
            </a:pPr>
            <a:r>
              <a:t>Summary:</a:t>
            </a:r>
          </a:p>
          <a:p>
            <a:pPr>
              <a:spcBef>
                <a:spcPts val="500"/>
              </a:spcBef>
            </a:pPr>
            <a:r>
              <a:t>• Delivered a scalable, intelligent mobile application that directly addresses academic workload and well-being.</a:t>
            </a:r>
          </a:p>
          <a:p>
            <a:pPr>
              <a:spcBef>
                <a:spcPts val="500"/>
              </a:spcBef>
            </a:pPr>
          </a:p>
          <a:p>
            <a:pPr>
              <a:spcBef>
                <a:spcPts val="500"/>
              </a:spcBef>
            </a:pPr>
            <a:r>
              <a:t>Future Enhancements:</a:t>
            </a:r>
          </a:p>
          <a:p>
            <a:pPr>
              <a:spcBef>
                <a:spcPts val="500"/>
              </a:spcBef>
            </a:pPr>
            <a:r>
              <a:t>1. Geolocation Integration (Maps):</a:t>
            </a:r>
          </a:p>
          <a:p>
            <a:pPr>
              <a:spcBef>
                <a:spcPts val="500"/>
              </a:spcBef>
            </a:pPr>
            <a:r>
              <a:t>   • Navigational routing for new faculty members to find lecture halls on campus.</a:t>
            </a:r>
          </a:p>
          <a:p>
            <a:pPr>
              <a:spcBef>
                <a:spcPts val="500"/>
              </a:spcBef>
            </a:pPr>
            <a:r>
              <a:t>2. Multimedia Upgrades:</a:t>
            </a:r>
          </a:p>
          <a:p>
            <a:pPr>
              <a:spcBef>
                <a:spcPts val="500"/>
              </a:spcBef>
            </a:pPr>
            <a:r>
              <a:t>   • Integration of expo-av to allow attaching audio voice notes to research project logs.</a:t>
            </a:r>
          </a:p>
          <a:p>
            <a:pPr>
              <a:spcBef>
                <a:spcPts val="500"/>
              </a:spcBef>
            </a:pPr>
            <a:r>
              <a:t>3. Deeper LMS Integration:</a:t>
            </a:r>
          </a:p>
          <a:p>
            <a:pPr>
              <a:spcBef>
                <a:spcPts val="500"/>
              </a:spcBef>
            </a:pPr>
            <a:r>
              <a:t>   • Syncing directly with Moodle/Canvas.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Any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