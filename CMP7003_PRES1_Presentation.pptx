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9B403D-EBD8-4018-8C5C-8373ECBA36E6}" type="datetimeFigureOut">
              <a:rPr lang="en-GB" smtClean="0"/>
              <a:t>30/08/2026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08D688-07EA-429E-AB0C-031AE4164084}" type="slidenum">
              <a:rPr lang="en-GB" smtClean="0"/>
              <a:t>‹#›</a:t>
            </a:fld>
            <a:endParaRPr lang="en-GB"/>
          </a:p>
        </p:txBody>
      </p:sp>
    </p:spTree>
    <p:extLst>
      <p:ext uri="{BB962C8B-B14F-4D97-AF65-F5344CB8AC3E}">
        <p14:creationId xmlns:p14="http://schemas.microsoft.com/office/powerpoint/2010/main" val="2700025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Good morning everyone. My name is [NAME] and today I will be presenting my project for CMP 7003, Emerging Mobile Applications. The project is called CampusMind AI, and it is an AI-driven smart lifestyle companion designed specifically for university academic staff. Over the next 15 minutes, I will walk you through the problem I identified, the technical solution I built, a live demonstration of the application, and where I see this project going in the future.</a:t>
            </a:r>
            <a:endParaRPr lang="en-GB"/>
          </a:p>
        </p:txBody>
      </p:sp>
      <p:sp>
        <p:nvSpPr>
          <p:cNvPr id="4" name="Slide Number Placeholder 3"/>
          <p:cNvSpPr>
            <a:spLocks noGrp="1"/>
          </p:cNvSpPr>
          <p:nvPr>
            <p:ph type="sldNum" sz="quarter" idx="5"/>
          </p:nvPr>
        </p:nvSpPr>
        <p:spPr/>
        <p:txBody>
          <a:bodyPr/>
          <a:lstStyle/>
          <a:p>
            <a:fld id="{9D08D688-07EA-429E-AB0C-031AE4164084}" type="slidenum">
              <a:rPr lang="en-GB" smtClean="0"/>
              <a:t>1</a:t>
            </a:fld>
            <a:endParaRPr lang="en-GB"/>
          </a:p>
        </p:txBody>
      </p:sp>
    </p:spTree>
    <p:extLst>
      <p:ext uri="{BB962C8B-B14F-4D97-AF65-F5344CB8AC3E}">
        <p14:creationId xmlns:p14="http://schemas.microsoft.com/office/powerpoint/2010/main" val="2596433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a quick overview of what I will cover. I will start with the problem that motivated this project, then introduce the application and its scope. After that, I will explain the technology choices and the system architecture. The bulk of the presentation will be a live demonstration of the key features. I will then justify some of the important design decisions I made, and finally wrap up with a summary and future enhancements. I will be happy to take questions at the end.</a:t>
            </a:r>
            <a:endParaRPr lang="en-GB"/>
          </a:p>
        </p:txBody>
      </p:sp>
      <p:sp>
        <p:nvSpPr>
          <p:cNvPr id="4" name="Slide Number Placeholder 3"/>
          <p:cNvSpPr>
            <a:spLocks noGrp="1"/>
          </p:cNvSpPr>
          <p:nvPr>
            <p:ph type="sldNum" sz="quarter" idx="5"/>
          </p:nvPr>
        </p:nvSpPr>
        <p:spPr/>
        <p:txBody>
          <a:bodyPr/>
          <a:lstStyle/>
          <a:p>
            <a:fld id="{9D08D688-07EA-429E-AB0C-031AE4164084}" type="slidenum">
              <a:rPr lang="en-GB" smtClean="0"/>
              <a:t>2</a:t>
            </a:fld>
            <a:endParaRPr lang="en-GB"/>
          </a:p>
        </p:txBody>
      </p:sp>
    </p:spTree>
    <p:extLst>
      <p:ext uri="{BB962C8B-B14F-4D97-AF65-F5344CB8AC3E}">
        <p14:creationId xmlns:p14="http://schemas.microsoft.com/office/powerpoint/2010/main" val="34538886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let me start by explaining why I built this application. University academics today are not simply lecturers who teach and go home. They are researchers chasing grant deadlines, committee members drafting compliance reports, supervisors guiding postgraduate students, and administrators managing accreditation cycles. Research consistently shows that this multi-role pressure leads to high levels of burnout. Guthrie and colleagues found in 2017 that UK academics report significantly higher burnout levels than the general working population. Watts and Robertson identified workload as the primary driver. What struck me was a simple question: if mobile technology is sophisticated enough to track a runner's heart rate variability and recommend recovery days, why hasn't somebody built something comparable for an academic's working life?</a:t>
            </a:r>
            <a:endParaRPr lang="en-GB"/>
          </a:p>
        </p:txBody>
      </p:sp>
      <p:sp>
        <p:nvSpPr>
          <p:cNvPr id="4" name="Slide Number Placeholder 3"/>
          <p:cNvSpPr>
            <a:spLocks noGrp="1"/>
          </p:cNvSpPr>
          <p:nvPr>
            <p:ph type="sldNum" sz="quarter" idx="5"/>
          </p:nvPr>
        </p:nvSpPr>
        <p:spPr/>
        <p:txBody>
          <a:bodyPr/>
          <a:lstStyle/>
          <a:p>
            <a:fld id="{9D08D688-07EA-429E-AB0C-031AE4164084}" type="slidenum">
              <a:rPr lang="en-GB" smtClean="0"/>
              <a:t>3</a:t>
            </a:fld>
            <a:endParaRPr lang="en-GB"/>
          </a:p>
        </p:txBody>
      </p:sp>
    </p:spTree>
    <p:extLst>
      <p:ext uri="{BB962C8B-B14F-4D97-AF65-F5344CB8AC3E}">
        <p14:creationId xmlns:p14="http://schemas.microsoft.com/office/powerpoint/2010/main" val="19554051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looked at what was already available. Microsoft Viva Insights does work-pattern analytics but it is enterprise-focused and has no academic-specific features like supervision tracking or accreditation management. Headspace and Calm address wellness but have zero connection to professional workload data. Notion and Todoist are excellent productivity tools but lack AI-driven contextual recommendations and wellness integration. The gap I identified is at the intersection of all three areas: productivity, wellness, and institutional compliance, all unified within a single mobile experience that understands the specific rhythms and pressures of academic work. That is what CampusMind AI fills.</a:t>
            </a:r>
            <a:endParaRPr lang="en-GB"/>
          </a:p>
        </p:txBody>
      </p:sp>
      <p:sp>
        <p:nvSpPr>
          <p:cNvPr id="4" name="Slide Number Placeholder 3"/>
          <p:cNvSpPr>
            <a:spLocks noGrp="1"/>
          </p:cNvSpPr>
          <p:nvPr>
            <p:ph type="sldNum" sz="quarter" idx="5"/>
          </p:nvPr>
        </p:nvSpPr>
        <p:spPr/>
        <p:txBody>
          <a:bodyPr/>
          <a:lstStyle/>
          <a:p>
            <a:fld id="{9D08D688-07EA-429E-AB0C-031AE4164084}" type="slidenum">
              <a:rPr lang="en-GB" smtClean="0"/>
              <a:t>4</a:t>
            </a:fld>
            <a:endParaRPr lang="en-GB"/>
          </a:p>
        </p:txBody>
      </p:sp>
    </p:spTree>
    <p:extLst>
      <p:ext uri="{BB962C8B-B14F-4D97-AF65-F5344CB8AC3E}">
        <p14:creationId xmlns:p14="http://schemas.microsoft.com/office/powerpoint/2010/main" val="586651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CampusMind AI is a cross-platform mobile application that functions as an intelligent daily companion for university staff. It is organised around three switchable workspaces. The Personal Hub handles day-to-day academic life: your schedule, research projects, meetings, and burnout monitoring. The Institutional Hub covers departmental quality assurance: accreditation tracking, curriculum reviews, audit records, and compliance reports. The Directory Hub provides faculty search and publication lookup. What makes this more than just another productivity app is the AI layer. Google's Gemini large language model powers schedule generation, email drafting, workload analysis, and compliance report generation. There is also a local wellness scoring algorithm that tracks burnout risk without sending health data to any external server.</a:t>
            </a:r>
            <a:endParaRPr lang="en-GB"/>
          </a:p>
        </p:txBody>
      </p:sp>
      <p:sp>
        <p:nvSpPr>
          <p:cNvPr id="4" name="Slide Number Placeholder 3"/>
          <p:cNvSpPr>
            <a:spLocks noGrp="1"/>
          </p:cNvSpPr>
          <p:nvPr>
            <p:ph type="sldNum" sz="quarter" idx="5"/>
          </p:nvPr>
        </p:nvSpPr>
        <p:spPr/>
        <p:txBody>
          <a:bodyPr/>
          <a:lstStyle/>
          <a:p>
            <a:fld id="{9D08D688-07EA-429E-AB0C-031AE4164084}" type="slidenum">
              <a:rPr lang="en-GB" smtClean="0"/>
              <a:t>5</a:t>
            </a:fld>
            <a:endParaRPr lang="en-GB"/>
          </a:p>
        </p:txBody>
      </p:sp>
    </p:spTree>
    <p:extLst>
      <p:ext uri="{BB962C8B-B14F-4D97-AF65-F5344CB8AC3E}">
        <p14:creationId xmlns:p14="http://schemas.microsoft.com/office/powerpoint/2010/main" val="37753045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 me walk you through the technology stack. The frontend is built with React Native using Expo SDK 54, which gives us a single codebase for iOS, Android, and Web. I chose TypeScript over plain JavaScript because static type-checking significantly reduces runtime errors, especially when working with a schemaless database like Firestore. Routing is handled by Expo Router version 6 which uses a file-based routing system, similar to Next.js. The backend is entirely Firebase: Firestore for real-time data synchronisation and Firebase Auth for user authentication with session persistence using AsyncStorage. The AI engine is Google's Gemini 3.6 Flash model accessed via REST API. For the UI, I used expo-blur for glassmorphic effects, expo-linear-gradient for gradient headers, and expo-haptics for tactile feedback. State management uses React's built-in Context API rather than Redux, because the application only has two global state concerns: authentication and settings.</a:t>
            </a:r>
            <a:endParaRPr lang="en-GB"/>
          </a:p>
        </p:txBody>
      </p:sp>
      <p:sp>
        <p:nvSpPr>
          <p:cNvPr id="4" name="Slide Number Placeholder 3"/>
          <p:cNvSpPr>
            <a:spLocks noGrp="1"/>
          </p:cNvSpPr>
          <p:nvPr>
            <p:ph type="sldNum" sz="quarter" idx="5"/>
          </p:nvPr>
        </p:nvSpPr>
        <p:spPr/>
        <p:txBody>
          <a:bodyPr/>
          <a:lstStyle/>
          <a:p>
            <a:fld id="{9D08D688-07EA-429E-AB0C-031AE4164084}" type="slidenum">
              <a:rPr lang="en-GB" smtClean="0"/>
              <a:t>6</a:t>
            </a:fld>
            <a:endParaRPr lang="en-GB"/>
          </a:p>
        </p:txBody>
      </p:sp>
    </p:spTree>
    <p:extLst>
      <p:ext uri="{BB962C8B-B14F-4D97-AF65-F5344CB8AC3E}">
        <p14:creationId xmlns:p14="http://schemas.microsoft.com/office/powerpoint/2010/main" val="6827830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diagram shows the three-layer architecture of CampusMind AI. At the top is the Presentation Layer, which consists of Expo Router screens organised into the three workspace groups. In the middle is the Service Layer, which contains five key modules: firestore.ts handles all database operations, gemini.ts manages AI API calls, wellnessAI.ts runs the local burnout scoring algorithm, calendarSync.ts handles calendar integration, and notificationService.ts manages push notifications. At the bottom is the Data Layer: Firebase Auth for user identity, Firestore with over 17 data collections secured by role-based security rules, and the Gemini API for generative AI. Data flows bidirectionally between the Presentation and Service layers through typed TypeScript interfaces, and between the Service and Data layers through real-time onSnapshot listeners and REST API calls. Notice that the wellness scoring computation happens entirely on-device, it never sends health data to an external server.</a:t>
            </a:r>
            <a:endParaRPr lang="en-GB"/>
          </a:p>
        </p:txBody>
      </p:sp>
      <p:sp>
        <p:nvSpPr>
          <p:cNvPr id="4" name="Slide Number Placeholder 3"/>
          <p:cNvSpPr>
            <a:spLocks noGrp="1"/>
          </p:cNvSpPr>
          <p:nvPr>
            <p:ph type="sldNum" sz="quarter" idx="5"/>
          </p:nvPr>
        </p:nvSpPr>
        <p:spPr/>
        <p:txBody>
          <a:bodyPr/>
          <a:lstStyle/>
          <a:p>
            <a:fld id="{9D08D688-07EA-429E-AB0C-031AE4164084}" type="slidenum">
              <a:rPr lang="en-GB" smtClean="0"/>
              <a:t>7</a:t>
            </a:fld>
            <a:endParaRPr lang="en-GB"/>
          </a:p>
        </p:txBody>
      </p:sp>
    </p:spTree>
    <p:extLst>
      <p:ext uri="{BB962C8B-B14F-4D97-AF65-F5344CB8AC3E}">
        <p14:creationId xmlns:p14="http://schemas.microsoft.com/office/powerpoint/2010/main" val="3206150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of the more interesting architectural decisions was the workspace system. Rather than building three separate navigation stacks or using deep nesting, CampusMind AI uses a single Tabs layout with conditional href properties. When the user switches to the Institutional workspace in Settings, the personal tabs are hidden by setting href to null, and the institutional tabs become visible. This approach keeps the navigation tree flat, avoids deep nesting, and means that workspace switching is instantaneous because no screens are unmounted or remounted. The SettingsContext provider stores the active workspace and all tab components read from it to decide which tabs to render. This is a pattern I have not seen in many React Native applications and it works very cleanly.</a:t>
            </a:r>
            <a:endParaRPr lang="en-GB"/>
          </a:p>
        </p:txBody>
      </p:sp>
      <p:sp>
        <p:nvSpPr>
          <p:cNvPr id="4" name="Slide Number Placeholder 3"/>
          <p:cNvSpPr>
            <a:spLocks noGrp="1"/>
          </p:cNvSpPr>
          <p:nvPr>
            <p:ph type="sldNum" sz="quarter" idx="5"/>
          </p:nvPr>
        </p:nvSpPr>
        <p:spPr/>
        <p:txBody>
          <a:bodyPr/>
          <a:lstStyle/>
          <a:p>
            <a:fld id="{9D08D688-07EA-429E-AB0C-031AE4164084}" type="slidenum">
              <a:rPr lang="en-GB" smtClean="0"/>
              <a:t>8</a:t>
            </a:fld>
            <a:endParaRPr lang="en-GB"/>
          </a:p>
        </p:txBody>
      </p:sp>
    </p:spTree>
    <p:extLst>
      <p:ext uri="{BB962C8B-B14F-4D97-AF65-F5344CB8AC3E}">
        <p14:creationId xmlns:p14="http://schemas.microsoft.com/office/powerpoint/2010/main" val="4843488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 me now demonstrate the application. Starting with the Dashboard, which is the first screen users see after logging in. At the top is a personalised greeting that changes based on the time of day. Below that is a quick stats bar showing four key metrics: today's task count, workload percentage, burnout risk percentage, and active research project count. The main content area shows today's schedule with colour-coded cards for different activity types like lectures, research blocks, and meetings. Then we have a well-being summary card that shows the latest wellness score with a trend indicator showing whether things are improving or declining. There is also a workload distribution card and AI-generated insights. What is technically interesting here is that this single screen maintains five concurrent Firestore onSnapshot listeners, so every piece of data updates in real time without the user ever needing to pull to refresh.</a:t>
            </a:r>
            <a:endParaRPr lang="en-GB"/>
          </a:p>
        </p:txBody>
      </p:sp>
      <p:sp>
        <p:nvSpPr>
          <p:cNvPr id="4" name="Slide Number Placeholder 3"/>
          <p:cNvSpPr>
            <a:spLocks noGrp="1"/>
          </p:cNvSpPr>
          <p:nvPr>
            <p:ph type="sldNum" sz="quarter" idx="5"/>
          </p:nvPr>
        </p:nvSpPr>
        <p:spPr/>
        <p:txBody>
          <a:bodyPr/>
          <a:lstStyle/>
          <a:p>
            <a:fld id="{9D08D688-07EA-429E-AB0C-031AE4164084}" type="slidenum">
              <a:rPr lang="en-GB" smtClean="0"/>
              <a:t>9</a:t>
            </a:fld>
            <a:endParaRPr lang="en-GB"/>
          </a:p>
        </p:txBody>
      </p:sp>
    </p:spTree>
    <p:extLst>
      <p:ext uri="{BB962C8B-B14F-4D97-AF65-F5344CB8AC3E}">
        <p14:creationId xmlns:p14="http://schemas.microsoft.com/office/powerpoint/2010/main" val="37740130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AI assistant is one of the standout features. It is accessible from every screen through a floating action button in the bottom-right corner. The button uses a pulsing animation, scaling between 1.0 and 1.08 with an accompanying glow effect to draw attention. Tapping it opens a full-screen modal with a chat interface. There are quick action cards for common tasks: drafting an email, planning a week, getting research help, and checking workload. Under the hood, each action type has its own tailored system prompt stored in the Gemini configuration. For email drafting specifically, users can select one of four contexts: student inquiry, extension request, supervisor communication, or committee response. The AI then generates a professional draft that the user can edit, save to Firestore, or discard. I also built a fallback mechanism so that if the Gemini API key is not configured, the app returns deterministic simulated responses. This means the app can be demonstrated and reviewed even without live API access.</a:t>
            </a:r>
            <a:endParaRPr lang="en-GB"/>
          </a:p>
        </p:txBody>
      </p:sp>
      <p:sp>
        <p:nvSpPr>
          <p:cNvPr id="4" name="Slide Number Placeholder 3"/>
          <p:cNvSpPr>
            <a:spLocks noGrp="1"/>
          </p:cNvSpPr>
          <p:nvPr>
            <p:ph type="sldNum" sz="quarter" idx="5"/>
          </p:nvPr>
        </p:nvSpPr>
        <p:spPr/>
        <p:txBody>
          <a:bodyPr/>
          <a:lstStyle/>
          <a:p>
            <a:fld id="{9D08D688-07EA-429E-AB0C-031AE4164084}" type="slidenum">
              <a:rPr lang="en-GB" smtClean="0"/>
              <a:t>10</a:t>
            </a:fld>
            <a:endParaRPr lang="en-GB"/>
          </a:p>
        </p:txBody>
      </p:sp>
    </p:spTree>
    <p:extLst>
      <p:ext uri="{BB962C8B-B14F-4D97-AF65-F5344CB8AC3E}">
        <p14:creationId xmlns:p14="http://schemas.microsoft.com/office/powerpoint/2010/main" val="30241060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burnout monitoring system is the most technically distinctive feature. Let me show you the screen. Users log their daily stress level using an emoji scale from 1 to 5. The system then computes a weighted composite wellness score where stress contributes 30%, sleep quality 25%, workload 25%, hydration 10%, and exercise 10%. These weights were informed by the academic burnout literature, particularly the work of Maslach and Leiter. The score maps to five categories from Excellent down to Critical. What I am particularly proud of is the trend analysis. The algorithm compares the average of the first half of logged scores against the second half to determine whether well-being is improving, stable, or declining. When the score drops into the poor or critical range, the system generates targeted interventions. For example, if stress is the primary factor, it might suggest blocking a recovery morning with no meetings before 10 AM, or recommend a specific breathing technique. Critically, all of this computation happens entirely on-device. No health data is sent to any external server. The wellness logs in Firestore are marked as strictly private in the security rules and can only be accessed by the owner.</a:t>
            </a:r>
            <a:endParaRPr lang="en-GB"/>
          </a:p>
        </p:txBody>
      </p:sp>
      <p:sp>
        <p:nvSpPr>
          <p:cNvPr id="4" name="Slide Number Placeholder 3"/>
          <p:cNvSpPr>
            <a:spLocks noGrp="1"/>
          </p:cNvSpPr>
          <p:nvPr>
            <p:ph type="sldNum" sz="quarter" idx="5"/>
          </p:nvPr>
        </p:nvSpPr>
        <p:spPr/>
        <p:txBody>
          <a:bodyPr/>
          <a:lstStyle/>
          <a:p>
            <a:fld id="{9D08D688-07EA-429E-AB0C-031AE4164084}" type="slidenum">
              <a:rPr lang="en-GB" smtClean="0"/>
              <a:t>11</a:t>
            </a:fld>
            <a:endParaRPr lang="en-GB"/>
          </a:p>
        </p:txBody>
      </p:sp>
    </p:spTree>
    <p:extLst>
      <p:ext uri="{BB962C8B-B14F-4D97-AF65-F5344CB8AC3E}">
        <p14:creationId xmlns:p14="http://schemas.microsoft.com/office/powerpoint/2010/main" val="28356869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let me switch to the Institutional workspace. This is where CampusMind AI truly differentiates itself from anything else on the market. The institutional hub provides full management of accreditation records with compliance scores, curriculum reviews with reviewer assignments, audit records with non-conformity tracking, and AI-generated compliance reports. What makes this technically interesting is the role-based access control. Any authenticated user can read institutional data, but only senior staff, defined as senior lecturer and above, can write to these collections. This is not just client-side validation. It is enforced at the database level through Firestore Security Rules. The rules use a getUserRole helper function that reads the user's profile document at request time and checks whether their role is in the authorised list. I tested this by attempting to write an audit record with a regular lecturer account and confirming that Firestore returns a permission denied error.</a:t>
            </a:r>
            <a:endParaRPr lang="en-GB"/>
          </a:p>
        </p:txBody>
      </p:sp>
      <p:sp>
        <p:nvSpPr>
          <p:cNvPr id="4" name="Slide Number Placeholder 3"/>
          <p:cNvSpPr>
            <a:spLocks noGrp="1"/>
          </p:cNvSpPr>
          <p:nvPr>
            <p:ph type="sldNum" sz="quarter" idx="5"/>
          </p:nvPr>
        </p:nvSpPr>
        <p:spPr/>
        <p:txBody>
          <a:bodyPr/>
          <a:lstStyle/>
          <a:p>
            <a:fld id="{9D08D688-07EA-429E-AB0C-031AE4164084}" type="slidenum">
              <a:rPr lang="en-GB" smtClean="0"/>
              <a:t>12</a:t>
            </a:fld>
            <a:endParaRPr lang="en-GB"/>
          </a:p>
        </p:txBody>
      </p:sp>
    </p:spTree>
    <p:extLst>
      <p:ext uri="{BB962C8B-B14F-4D97-AF65-F5344CB8AC3E}">
        <p14:creationId xmlns:p14="http://schemas.microsoft.com/office/powerpoint/2010/main" val="31383470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 me quickly show you a few more features. The Smart Planner allows users to view and create schedule items by date, and the AI can generate optimised daily schedules based on teaching hours, deadlines, and meeting counts. The Research Pipeline Management screen tracks projects with progress percentages, publication counts, grant statuses, and ethics approval states. On the settings side, I built a comprehensive accessibility system. There is a theme engine supporting light, dark, and system-follow modes. Font size can be scaled across three levels, and there is a high-contrast mode for visually impaired users. All these preferences are persisted locally using AsyncStorage so they survive app restarts. There is also a configurable notification system with reminders for ergonomic breaks, hydration, deadlines, burnout warnings, and upcoming meetings.</a:t>
            </a:r>
            <a:endParaRPr lang="en-GB"/>
          </a:p>
        </p:txBody>
      </p:sp>
      <p:sp>
        <p:nvSpPr>
          <p:cNvPr id="4" name="Slide Number Placeholder 3"/>
          <p:cNvSpPr>
            <a:spLocks noGrp="1"/>
          </p:cNvSpPr>
          <p:nvPr>
            <p:ph type="sldNum" sz="quarter" idx="5"/>
          </p:nvPr>
        </p:nvSpPr>
        <p:spPr/>
        <p:txBody>
          <a:bodyPr/>
          <a:lstStyle/>
          <a:p>
            <a:fld id="{9D08D688-07EA-429E-AB0C-031AE4164084}" type="slidenum">
              <a:rPr lang="en-GB" smtClean="0"/>
              <a:t>13</a:t>
            </a:fld>
            <a:endParaRPr lang="en-GB"/>
          </a:p>
        </p:txBody>
      </p:sp>
    </p:spTree>
    <p:extLst>
      <p:ext uri="{BB962C8B-B14F-4D97-AF65-F5344CB8AC3E}">
        <p14:creationId xmlns:p14="http://schemas.microsoft.com/office/powerpoint/2010/main" val="31356438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 me justify some of the key design decisions. First, React Native with Expo over native development. The primary driver was cross-platform reach from a single codebase, but Danielsson and Olsson's 2018 study also found React Native's component-based architecture particularly suitable for applications with complex state management, which is exactly what we need when juggling live schedule data, wellness logs, and AI chat history. Second, Firebase Firestore over a traditional SQL database. Firestore's onSnapshot listeners enable real-time data synchronisation without polling. Moroney's 2017 analysis validated Firebase as a BaaS platform for applications requiring immediate data consistency. Third, the Gemini API over local machine learning models. On-device inference would improve latency and privacy, but the current generation of on-device models cannot match Gemini's quality for complex tasks like compliance report generation. Fourth, React Context API over Redux. Redux would be overkill here because the application only has two global state concerns. Context keeps the code simpler and more maintainable. Finally, the glassmorphic UI with expo-blur creates a modern, clean aesthetic that reduces visual clutter.</a:t>
            </a:r>
            <a:endParaRPr lang="en-GB"/>
          </a:p>
        </p:txBody>
      </p:sp>
      <p:sp>
        <p:nvSpPr>
          <p:cNvPr id="4" name="Slide Number Placeholder 3"/>
          <p:cNvSpPr>
            <a:spLocks noGrp="1"/>
          </p:cNvSpPr>
          <p:nvPr>
            <p:ph type="sldNum" sz="quarter" idx="5"/>
          </p:nvPr>
        </p:nvSpPr>
        <p:spPr/>
        <p:txBody>
          <a:bodyPr/>
          <a:lstStyle/>
          <a:p>
            <a:fld id="{9D08D688-07EA-429E-AB0C-031AE4164084}" type="slidenum">
              <a:rPr lang="en-GB" smtClean="0"/>
              <a:t>14</a:t>
            </a:fld>
            <a:endParaRPr lang="en-GB"/>
          </a:p>
        </p:txBody>
      </p:sp>
    </p:spTree>
    <p:extLst>
      <p:ext uri="{BB962C8B-B14F-4D97-AF65-F5344CB8AC3E}">
        <p14:creationId xmlns:p14="http://schemas.microsoft.com/office/powerpoint/2010/main" val="11935880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Security was treated as a cross-cutting concern, not an afterthought. The Firestore Security Rules implement three tiers of access control. Tier one is owner-only access for personal data. Wellness logs, schedules, and email drafts can only be read and written by the authenticated user whose userId matches the request auth UID. Wellness data is explicitly commented in the security rules as private and never shared. Tier two is shared read access for meetings. Meeting documents can be read by both the owner and any user whose UID appears in the attendeeIds array. Tier three is role-restricted access for institutional QA data. Any authenticated user can read accreditation and compliance records, but only senior staff can write to them. The getUserRole helper function reads the user's profile document in real-time to verify their role. Authentication uses Firebase Auth with AsyncStorage persistence on native platforms, so users stay logged in across app restarts. All API keys are stored in environment variables using Expo's EXPO_PUBLIC prefix convention, never hardcoded into source files.</a:t>
            </a:r>
            <a:endParaRPr lang="en-GB"/>
          </a:p>
        </p:txBody>
      </p:sp>
      <p:sp>
        <p:nvSpPr>
          <p:cNvPr id="4" name="Slide Number Placeholder 3"/>
          <p:cNvSpPr>
            <a:spLocks noGrp="1"/>
          </p:cNvSpPr>
          <p:nvPr>
            <p:ph type="sldNum" sz="quarter" idx="5"/>
          </p:nvPr>
        </p:nvSpPr>
        <p:spPr/>
        <p:txBody>
          <a:bodyPr/>
          <a:lstStyle/>
          <a:p>
            <a:fld id="{9D08D688-07EA-429E-AB0C-031AE4164084}" type="slidenum">
              <a:rPr lang="en-GB" smtClean="0"/>
              <a:t>15</a:t>
            </a:fld>
            <a:endParaRPr lang="en-GB"/>
          </a:p>
        </p:txBody>
      </p:sp>
    </p:spTree>
    <p:extLst>
      <p:ext uri="{BB962C8B-B14F-4D97-AF65-F5344CB8AC3E}">
        <p14:creationId xmlns:p14="http://schemas.microsoft.com/office/powerpoint/2010/main" val="14307682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conducted testing across four dimensions. Functional testing covered 15 test cases across all primary user flows, including login, registration, CRUD operations, AI chat responses, workspace switching, theme toggling, and role-based access restrictions. All 15 tests passed. Usability testing was conducted with three postgraduate colleagues who used the application for three days. The dashboard was described as clean and not overwhelming. All testers noticed the AI floating button immediately. The accessibility features were confirmed to work correctly at all three font size settings. Performance testing was done on a physical Samsung Galaxy A54. Cold start time averaged 2.8 seconds. Firestore sync latency was consistently under 300 milliseconds, and Gemini API responses averaged between 1.2 and 1.6 seconds. Security testing confirmed that cross-user data access is properly blocked, and that users without senior roles cannot write to restricted institutional collections.</a:t>
            </a:r>
            <a:endParaRPr lang="en-GB"/>
          </a:p>
        </p:txBody>
      </p:sp>
      <p:sp>
        <p:nvSpPr>
          <p:cNvPr id="4" name="Slide Number Placeholder 3"/>
          <p:cNvSpPr>
            <a:spLocks noGrp="1"/>
          </p:cNvSpPr>
          <p:nvPr>
            <p:ph type="sldNum" sz="quarter" idx="5"/>
          </p:nvPr>
        </p:nvSpPr>
        <p:spPr/>
        <p:txBody>
          <a:bodyPr/>
          <a:lstStyle/>
          <a:p>
            <a:fld id="{9D08D688-07EA-429E-AB0C-031AE4164084}" type="slidenum">
              <a:rPr lang="en-GB" smtClean="0"/>
              <a:t>16</a:t>
            </a:fld>
            <a:endParaRPr lang="en-GB"/>
          </a:p>
        </p:txBody>
      </p:sp>
    </p:spTree>
    <p:extLst>
      <p:ext uri="{BB962C8B-B14F-4D97-AF65-F5344CB8AC3E}">
        <p14:creationId xmlns:p14="http://schemas.microsoft.com/office/powerpoint/2010/main" val="20671943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summarise, CampusMind AI demonstrates that emerging mobile technologies can be combined into a genuinely useful intelligent companion for academic professionals. I built a fully functional cross-platform application with AI-powered assistance, real-time cloud synchronisation, on-device wellness scoring, role-based security, and comprehensive accessibility support. For future enhancements, I see four key directions. First, on-device AI inference using Gemini Nano, which would enable offline AI functionality and reduce latency. Second, wearable device integration to detect stress passively through heart-rate variability analysis. Third, replacing the rule-based burnout algorithm with a machine learning model trained on anonymised academic workload datasets, which could predict burnout risk weeks before it manifests. And fourth, augmented reality features for campus navigation to help new staff find their way around.</a:t>
            </a:r>
            <a:endParaRPr lang="en-GB"/>
          </a:p>
        </p:txBody>
      </p:sp>
      <p:sp>
        <p:nvSpPr>
          <p:cNvPr id="4" name="Slide Number Placeholder 3"/>
          <p:cNvSpPr>
            <a:spLocks noGrp="1"/>
          </p:cNvSpPr>
          <p:nvPr>
            <p:ph type="sldNum" sz="quarter" idx="5"/>
          </p:nvPr>
        </p:nvSpPr>
        <p:spPr/>
        <p:txBody>
          <a:bodyPr/>
          <a:lstStyle/>
          <a:p>
            <a:fld id="{9D08D688-07EA-429E-AB0C-031AE4164084}" type="slidenum">
              <a:rPr lang="en-GB" smtClean="0"/>
              <a:t>17</a:t>
            </a:fld>
            <a:endParaRPr lang="en-GB"/>
          </a:p>
        </p:txBody>
      </p:sp>
    </p:spTree>
    <p:extLst>
      <p:ext uri="{BB962C8B-B14F-4D97-AF65-F5344CB8AC3E}">
        <p14:creationId xmlns:p14="http://schemas.microsoft.com/office/powerpoint/2010/main" val="35406338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Thank you all for your attention. I am happy to take any questions you might have about the application, the architecture, or any of the design decisions I discussed today.</a:t>
            </a:r>
            <a:endParaRPr lang="en-GB"/>
          </a:p>
        </p:txBody>
      </p:sp>
      <p:sp>
        <p:nvSpPr>
          <p:cNvPr id="4" name="Slide Number Placeholder 3"/>
          <p:cNvSpPr>
            <a:spLocks noGrp="1"/>
          </p:cNvSpPr>
          <p:nvPr>
            <p:ph type="sldNum" sz="quarter" idx="5"/>
          </p:nvPr>
        </p:nvSpPr>
        <p:spPr/>
        <p:txBody>
          <a:bodyPr/>
          <a:lstStyle/>
          <a:p>
            <a:fld id="{9D08D688-07EA-429E-AB0C-031AE4164084}" type="slidenum">
              <a:rPr lang="en-GB" smtClean="0"/>
              <a:t>18</a:t>
            </a:fld>
            <a:endParaRPr lang="en-GB"/>
          </a:p>
        </p:txBody>
      </p:sp>
    </p:spTree>
    <p:extLst>
      <p:ext uri="{BB962C8B-B14F-4D97-AF65-F5344CB8AC3E}">
        <p14:creationId xmlns:p14="http://schemas.microsoft.com/office/powerpoint/2010/main" val="184224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E8D21-C187-BAAB-E38C-2881364C88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4235DF3-D9D1-6382-EA7D-B0C5361B7D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A76A6F1-D63A-1AC5-1DDA-103B74A8810A}"/>
              </a:ext>
            </a:extLst>
          </p:cNvPr>
          <p:cNvSpPr>
            <a:spLocks noGrp="1"/>
          </p:cNvSpPr>
          <p:nvPr>
            <p:ph type="dt" sz="half" idx="10"/>
          </p:nvPr>
        </p:nvSpPr>
        <p:spPr/>
        <p:txBody>
          <a:bodyPr/>
          <a:lstStyle/>
          <a:p>
            <a:fld id="{9A509719-265E-4B64-B8C4-EB3E7FDE2E53}" type="datetimeFigureOut">
              <a:rPr lang="en-GB" smtClean="0"/>
              <a:t>30/08/2026</a:t>
            </a:fld>
            <a:endParaRPr lang="en-GB"/>
          </a:p>
        </p:txBody>
      </p:sp>
      <p:sp>
        <p:nvSpPr>
          <p:cNvPr id="5" name="Footer Placeholder 4">
            <a:extLst>
              <a:ext uri="{FF2B5EF4-FFF2-40B4-BE49-F238E27FC236}">
                <a16:creationId xmlns:a16="http://schemas.microsoft.com/office/drawing/2014/main" id="{07A1F49B-C888-C4AA-8F5B-A076E7BB308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7A5FD9A-42E1-8991-143A-687FAC7BD09E}"/>
              </a:ext>
            </a:extLst>
          </p:cNvPr>
          <p:cNvSpPr>
            <a:spLocks noGrp="1"/>
          </p:cNvSpPr>
          <p:nvPr>
            <p:ph type="sldNum" sz="quarter" idx="12"/>
          </p:nvPr>
        </p:nvSpPr>
        <p:spPr/>
        <p:txBody>
          <a:bodyPr/>
          <a:lstStyle/>
          <a:p>
            <a:fld id="{A5AC38AE-728F-4776-8898-04D0493AA6A4}" type="slidenum">
              <a:rPr lang="en-GB" smtClean="0"/>
              <a:t>‹#›</a:t>
            </a:fld>
            <a:endParaRPr lang="en-GB"/>
          </a:p>
        </p:txBody>
      </p:sp>
    </p:spTree>
    <p:extLst>
      <p:ext uri="{BB962C8B-B14F-4D97-AF65-F5344CB8AC3E}">
        <p14:creationId xmlns:p14="http://schemas.microsoft.com/office/powerpoint/2010/main" val="1521183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C8201-5F31-ABBE-0BF5-FE7D85F1AB5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8C7FAFE-20D2-3ABC-828C-CFFF3933E8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6461164-90C6-2D21-6BF2-343A60254112}"/>
              </a:ext>
            </a:extLst>
          </p:cNvPr>
          <p:cNvSpPr>
            <a:spLocks noGrp="1"/>
          </p:cNvSpPr>
          <p:nvPr>
            <p:ph type="dt" sz="half" idx="10"/>
          </p:nvPr>
        </p:nvSpPr>
        <p:spPr/>
        <p:txBody>
          <a:bodyPr/>
          <a:lstStyle/>
          <a:p>
            <a:fld id="{9A509719-265E-4B64-B8C4-EB3E7FDE2E53}" type="datetimeFigureOut">
              <a:rPr lang="en-GB" smtClean="0"/>
              <a:t>30/08/2026</a:t>
            </a:fld>
            <a:endParaRPr lang="en-GB"/>
          </a:p>
        </p:txBody>
      </p:sp>
      <p:sp>
        <p:nvSpPr>
          <p:cNvPr id="5" name="Footer Placeholder 4">
            <a:extLst>
              <a:ext uri="{FF2B5EF4-FFF2-40B4-BE49-F238E27FC236}">
                <a16:creationId xmlns:a16="http://schemas.microsoft.com/office/drawing/2014/main" id="{35C9F8F7-308B-9193-81B3-086897B27BE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5EBF597-C6DD-3FAA-FA76-BC7BC7B5AE4D}"/>
              </a:ext>
            </a:extLst>
          </p:cNvPr>
          <p:cNvSpPr>
            <a:spLocks noGrp="1"/>
          </p:cNvSpPr>
          <p:nvPr>
            <p:ph type="sldNum" sz="quarter" idx="12"/>
          </p:nvPr>
        </p:nvSpPr>
        <p:spPr/>
        <p:txBody>
          <a:bodyPr/>
          <a:lstStyle/>
          <a:p>
            <a:fld id="{A5AC38AE-728F-4776-8898-04D0493AA6A4}" type="slidenum">
              <a:rPr lang="en-GB" smtClean="0"/>
              <a:t>‹#›</a:t>
            </a:fld>
            <a:endParaRPr lang="en-GB"/>
          </a:p>
        </p:txBody>
      </p:sp>
    </p:spTree>
    <p:extLst>
      <p:ext uri="{BB962C8B-B14F-4D97-AF65-F5344CB8AC3E}">
        <p14:creationId xmlns:p14="http://schemas.microsoft.com/office/powerpoint/2010/main" val="18542493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D181-AF4A-2F06-8D4C-892637597F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27FFB79-8B72-AEA5-59D1-4196001D46F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77DE10-3EDB-E2E3-8677-B734FDE9EAC0}"/>
              </a:ext>
            </a:extLst>
          </p:cNvPr>
          <p:cNvSpPr>
            <a:spLocks noGrp="1"/>
          </p:cNvSpPr>
          <p:nvPr>
            <p:ph type="dt" sz="half" idx="10"/>
          </p:nvPr>
        </p:nvSpPr>
        <p:spPr/>
        <p:txBody>
          <a:bodyPr/>
          <a:lstStyle/>
          <a:p>
            <a:fld id="{9A509719-265E-4B64-B8C4-EB3E7FDE2E53}" type="datetimeFigureOut">
              <a:rPr lang="en-GB" smtClean="0"/>
              <a:t>30/08/2026</a:t>
            </a:fld>
            <a:endParaRPr lang="en-GB"/>
          </a:p>
        </p:txBody>
      </p:sp>
      <p:sp>
        <p:nvSpPr>
          <p:cNvPr id="5" name="Footer Placeholder 4">
            <a:extLst>
              <a:ext uri="{FF2B5EF4-FFF2-40B4-BE49-F238E27FC236}">
                <a16:creationId xmlns:a16="http://schemas.microsoft.com/office/drawing/2014/main" id="{02AA2C0C-A3F2-4EC5-B59A-29D05B14980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A5338C6-1542-66A9-E074-7594927947F1}"/>
              </a:ext>
            </a:extLst>
          </p:cNvPr>
          <p:cNvSpPr>
            <a:spLocks noGrp="1"/>
          </p:cNvSpPr>
          <p:nvPr>
            <p:ph type="sldNum" sz="quarter" idx="12"/>
          </p:nvPr>
        </p:nvSpPr>
        <p:spPr/>
        <p:txBody>
          <a:bodyPr/>
          <a:lstStyle/>
          <a:p>
            <a:fld id="{A5AC38AE-728F-4776-8898-04D0493AA6A4}" type="slidenum">
              <a:rPr lang="en-GB" smtClean="0"/>
              <a:t>‹#›</a:t>
            </a:fld>
            <a:endParaRPr lang="en-GB"/>
          </a:p>
        </p:txBody>
      </p:sp>
    </p:spTree>
    <p:extLst>
      <p:ext uri="{BB962C8B-B14F-4D97-AF65-F5344CB8AC3E}">
        <p14:creationId xmlns:p14="http://schemas.microsoft.com/office/powerpoint/2010/main" val="2692376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FDE7D-EC4B-E70D-07F3-D0A5ED4F407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2F050DE-7B22-50F7-F63D-8094727908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D78A1B2-B307-B3B5-C3BB-7F3B53811A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D0EC79AC-A681-DA0C-E3E9-9CF8B70DC4DA}"/>
              </a:ext>
            </a:extLst>
          </p:cNvPr>
          <p:cNvSpPr>
            <a:spLocks noGrp="1"/>
          </p:cNvSpPr>
          <p:nvPr>
            <p:ph type="dt" sz="half" idx="10"/>
          </p:nvPr>
        </p:nvSpPr>
        <p:spPr/>
        <p:txBody>
          <a:bodyPr/>
          <a:lstStyle/>
          <a:p>
            <a:fld id="{9A509719-265E-4B64-B8C4-EB3E7FDE2E53}" type="datetimeFigureOut">
              <a:rPr lang="en-GB" smtClean="0"/>
              <a:t>30/08/2026</a:t>
            </a:fld>
            <a:endParaRPr lang="en-GB"/>
          </a:p>
        </p:txBody>
      </p:sp>
      <p:sp>
        <p:nvSpPr>
          <p:cNvPr id="6" name="Footer Placeholder 5">
            <a:extLst>
              <a:ext uri="{FF2B5EF4-FFF2-40B4-BE49-F238E27FC236}">
                <a16:creationId xmlns:a16="http://schemas.microsoft.com/office/drawing/2014/main" id="{D85F183E-2923-DBFE-B8B7-D93294447DA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852587A-EC8D-A532-B0B4-82462A157156}"/>
              </a:ext>
            </a:extLst>
          </p:cNvPr>
          <p:cNvSpPr>
            <a:spLocks noGrp="1"/>
          </p:cNvSpPr>
          <p:nvPr>
            <p:ph type="sldNum" sz="quarter" idx="12"/>
          </p:nvPr>
        </p:nvSpPr>
        <p:spPr/>
        <p:txBody>
          <a:bodyPr/>
          <a:lstStyle/>
          <a:p>
            <a:fld id="{A5AC38AE-728F-4776-8898-04D0493AA6A4}" type="slidenum">
              <a:rPr lang="en-GB" smtClean="0"/>
              <a:t>‹#›</a:t>
            </a:fld>
            <a:endParaRPr lang="en-GB"/>
          </a:p>
        </p:txBody>
      </p:sp>
    </p:spTree>
    <p:extLst>
      <p:ext uri="{BB962C8B-B14F-4D97-AF65-F5344CB8AC3E}">
        <p14:creationId xmlns:p14="http://schemas.microsoft.com/office/powerpoint/2010/main" val="21160084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FE98E-11FE-4EE2-69DF-DA91349DD3E6}"/>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7329694-00EB-BD1B-F4B8-91314E0731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D840E1-7CEB-849E-ECC4-0F4CE9BAF3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F39FC53-8E9A-1410-9334-E42D1F9AEE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A3E96A-B52E-28E3-F3D0-3C0875FE0FB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E9134C29-0851-F7CF-8EDF-A84E7FAF6B03}"/>
              </a:ext>
            </a:extLst>
          </p:cNvPr>
          <p:cNvSpPr>
            <a:spLocks noGrp="1"/>
          </p:cNvSpPr>
          <p:nvPr>
            <p:ph type="dt" sz="half" idx="10"/>
          </p:nvPr>
        </p:nvSpPr>
        <p:spPr/>
        <p:txBody>
          <a:bodyPr/>
          <a:lstStyle/>
          <a:p>
            <a:fld id="{9A509719-265E-4B64-B8C4-EB3E7FDE2E53}" type="datetimeFigureOut">
              <a:rPr lang="en-GB" smtClean="0"/>
              <a:t>30/08/2026</a:t>
            </a:fld>
            <a:endParaRPr lang="en-GB"/>
          </a:p>
        </p:txBody>
      </p:sp>
      <p:sp>
        <p:nvSpPr>
          <p:cNvPr id="8" name="Footer Placeholder 7">
            <a:extLst>
              <a:ext uri="{FF2B5EF4-FFF2-40B4-BE49-F238E27FC236}">
                <a16:creationId xmlns:a16="http://schemas.microsoft.com/office/drawing/2014/main" id="{9F3C5906-3A99-3048-E3C9-B3FF5FCA185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056809F-1926-02D5-492E-174826CB1488}"/>
              </a:ext>
            </a:extLst>
          </p:cNvPr>
          <p:cNvSpPr>
            <a:spLocks noGrp="1"/>
          </p:cNvSpPr>
          <p:nvPr>
            <p:ph type="sldNum" sz="quarter" idx="12"/>
          </p:nvPr>
        </p:nvSpPr>
        <p:spPr/>
        <p:txBody>
          <a:bodyPr/>
          <a:lstStyle/>
          <a:p>
            <a:fld id="{A5AC38AE-728F-4776-8898-04D0493AA6A4}" type="slidenum">
              <a:rPr lang="en-GB" smtClean="0"/>
              <a:t>‹#›</a:t>
            </a:fld>
            <a:endParaRPr lang="en-GB"/>
          </a:p>
        </p:txBody>
      </p:sp>
    </p:spTree>
    <p:extLst>
      <p:ext uri="{BB962C8B-B14F-4D97-AF65-F5344CB8AC3E}">
        <p14:creationId xmlns:p14="http://schemas.microsoft.com/office/powerpoint/2010/main" val="837912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CAB30-FA5E-349A-850F-6DD9570B254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B23A3C1-D675-CC3C-B3CD-0D0D8E0AB288}"/>
              </a:ext>
            </a:extLst>
          </p:cNvPr>
          <p:cNvSpPr>
            <a:spLocks noGrp="1"/>
          </p:cNvSpPr>
          <p:nvPr>
            <p:ph type="dt" sz="half" idx="10"/>
          </p:nvPr>
        </p:nvSpPr>
        <p:spPr/>
        <p:txBody>
          <a:bodyPr/>
          <a:lstStyle/>
          <a:p>
            <a:fld id="{9A509719-265E-4B64-B8C4-EB3E7FDE2E53}" type="datetimeFigureOut">
              <a:rPr lang="en-GB" smtClean="0"/>
              <a:t>30/08/2026</a:t>
            </a:fld>
            <a:endParaRPr lang="en-GB"/>
          </a:p>
        </p:txBody>
      </p:sp>
      <p:sp>
        <p:nvSpPr>
          <p:cNvPr id="4" name="Footer Placeholder 3">
            <a:extLst>
              <a:ext uri="{FF2B5EF4-FFF2-40B4-BE49-F238E27FC236}">
                <a16:creationId xmlns:a16="http://schemas.microsoft.com/office/drawing/2014/main" id="{E646DD3E-8CDE-51B7-F34A-E69F9594D4A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111EE1B-0857-3AF3-AC48-6EDE1809C046}"/>
              </a:ext>
            </a:extLst>
          </p:cNvPr>
          <p:cNvSpPr>
            <a:spLocks noGrp="1"/>
          </p:cNvSpPr>
          <p:nvPr>
            <p:ph type="sldNum" sz="quarter" idx="12"/>
          </p:nvPr>
        </p:nvSpPr>
        <p:spPr/>
        <p:txBody>
          <a:bodyPr/>
          <a:lstStyle/>
          <a:p>
            <a:fld id="{A5AC38AE-728F-4776-8898-04D0493AA6A4}" type="slidenum">
              <a:rPr lang="en-GB" smtClean="0"/>
              <a:t>‹#›</a:t>
            </a:fld>
            <a:endParaRPr lang="en-GB"/>
          </a:p>
        </p:txBody>
      </p:sp>
    </p:spTree>
    <p:extLst>
      <p:ext uri="{BB962C8B-B14F-4D97-AF65-F5344CB8AC3E}">
        <p14:creationId xmlns:p14="http://schemas.microsoft.com/office/powerpoint/2010/main" val="3016344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E7BC42-6B69-EBE1-F608-A038A85B3E5F}"/>
              </a:ext>
            </a:extLst>
          </p:cNvPr>
          <p:cNvSpPr>
            <a:spLocks noGrp="1"/>
          </p:cNvSpPr>
          <p:nvPr>
            <p:ph type="dt" sz="half" idx="10"/>
          </p:nvPr>
        </p:nvSpPr>
        <p:spPr/>
        <p:txBody>
          <a:bodyPr/>
          <a:lstStyle/>
          <a:p>
            <a:fld id="{9A509719-265E-4B64-B8C4-EB3E7FDE2E53}" type="datetimeFigureOut">
              <a:rPr lang="en-GB" smtClean="0"/>
              <a:t>30/08/2026</a:t>
            </a:fld>
            <a:endParaRPr lang="en-GB"/>
          </a:p>
        </p:txBody>
      </p:sp>
      <p:sp>
        <p:nvSpPr>
          <p:cNvPr id="3" name="Footer Placeholder 2">
            <a:extLst>
              <a:ext uri="{FF2B5EF4-FFF2-40B4-BE49-F238E27FC236}">
                <a16:creationId xmlns:a16="http://schemas.microsoft.com/office/drawing/2014/main" id="{76C05596-1227-D49E-9862-E9AB0A6DC07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8B14A7C-48BE-34A3-296C-C698C5288292}"/>
              </a:ext>
            </a:extLst>
          </p:cNvPr>
          <p:cNvSpPr>
            <a:spLocks noGrp="1"/>
          </p:cNvSpPr>
          <p:nvPr>
            <p:ph type="sldNum" sz="quarter" idx="12"/>
          </p:nvPr>
        </p:nvSpPr>
        <p:spPr/>
        <p:txBody>
          <a:bodyPr/>
          <a:lstStyle/>
          <a:p>
            <a:fld id="{A5AC38AE-728F-4776-8898-04D0493AA6A4}" type="slidenum">
              <a:rPr lang="en-GB" smtClean="0"/>
              <a:t>‹#›</a:t>
            </a:fld>
            <a:endParaRPr lang="en-GB"/>
          </a:p>
        </p:txBody>
      </p:sp>
    </p:spTree>
    <p:extLst>
      <p:ext uri="{BB962C8B-B14F-4D97-AF65-F5344CB8AC3E}">
        <p14:creationId xmlns:p14="http://schemas.microsoft.com/office/powerpoint/2010/main" val="3199241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44EA3-8B8E-070D-48A7-B5F8708448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295780B-6690-1FA3-6DB9-C4F1ADC60A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7DC2765-BDE3-68CF-D21E-34D223F605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AFEEB1-6F69-CA26-15DF-F865A1426CCB}"/>
              </a:ext>
            </a:extLst>
          </p:cNvPr>
          <p:cNvSpPr>
            <a:spLocks noGrp="1"/>
          </p:cNvSpPr>
          <p:nvPr>
            <p:ph type="dt" sz="half" idx="10"/>
          </p:nvPr>
        </p:nvSpPr>
        <p:spPr/>
        <p:txBody>
          <a:bodyPr/>
          <a:lstStyle/>
          <a:p>
            <a:fld id="{9A509719-265E-4B64-B8C4-EB3E7FDE2E53}" type="datetimeFigureOut">
              <a:rPr lang="en-GB" smtClean="0"/>
              <a:t>30/08/2026</a:t>
            </a:fld>
            <a:endParaRPr lang="en-GB"/>
          </a:p>
        </p:txBody>
      </p:sp>
      <p:sp>
        <p:nvSpPr>
          <p:cNvPr id="6" name="Footer Placeholder 5">
            <a:extLst>
              <a:ext uri="{FF2B5EF4-FFF2-40B4-BE49-F238E27FC236}">
                <a16:creationId xmlns:a16="http://schemas.microsoft.com/office/drawing/2014/main" id="{B87F4F69-6966-B008-171A-50007211FCB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1268F66-F9A7-953D-612E-8856C4F64340}"/>
              </a:ext>
            </a:extLst>
          </p:cNvPr>
          <p:cNvSpPr>
            <a:spLocks noGrp="1"/>
          </p:cNvSpPr>
          <p:nvPr>
            <p:ph type="sldNum" sz="quarter" idx="12"/>
          </p:nvPr>
        </p:nvSpPr>
        <p:spPr/>
        <p:txBody>
          <a:bodyPr/>
          <a:lstStyle/>
          <a:p>
            <a:fld id="{A5AC38AE-728F-4776-8898-04D0493AA6A4}" type="slidenum">
              <a:rPr lang="en-GB" smtClean="0"/>
              <a:t>‹#›</a:t>
            </a:fld>
            <a:endParaRPr lang="en-GB"/>
          </a:p>
        </p:txBody>
      </p:sp>
    </p:spTree>
    <p:extLst>
      <p:ext uri="{BB962C8B-B14F-4D97-AF65-F5344CB8AC3E}">
        <p14:creationId xmlns:p14="http://schemas.microsoft.com/office/powerpoint/2010/main" val="285943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ECD61-47FF-1014-F787-265D947374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3A22B7B8-F63A-9967-DA57-54A0CE8F17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305395D-3329-001F-5971-82A636E82D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BC136C-8CA7-1CEE-6916-587823593A92}"/>
              </a:ext>
            </a:extLst>
          </p:cNvPr>
          <p:cNvSpPr>
            <a:spLocks noGrp="1"/>
          </p:cNvSpPr>
          <p:nvPr>
            <p:ph type="dt" sz="half" idx="10"/>
          </p:nvPr>
        </p:nvSpPr>
        <p:spPr/>
        <p:txBody>
          <a:bodyPr/>
          <a:lstStyle/>
          <a:p>
            <a:fld id="{9A509719-265E-4B64-B8C4-EB3E7FDE2E53}" type="datetimeFigureOut">
              <a:rPr lang="en-GB" smtClean="0"/>
              <a:t>30/08/2026</a:t>
            </a:fld>
            <a:endParaRPr lang="en-GB"/>
          </a:p>
        </p:txBody>
      </p:sp>
      <p:sp>
        <p:nvSpPr>
          <p:cNvPr id="6" name="Footer Placeholder 5">
            <a:extLst>
              <a:ext uri="{FF2B5EF4-FFF2-40B4-BE49-F238E27FC236}">
                <a16:creationId xmlns:a16="http://schemas.microsoft.com/office/drawing/2014/main" id="{970A0FBC-845D-F0C0-E79D-D29F28405A7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249ADB1-02BA-E0F6-3A5F-2E414DA893FB}"/>
              </a:ext>
            </a:extLst>
          </p:cNvPr>
          <p:cNvSpPr>
            <a:spLocks noGrp="1"/>
          </p:cNvSpPr>
          <p:nvPr>
            <p:ph type="sldNum" sz="quarter" idx="12"/>
          </p:nvPr>
        </p:nvSpPr>
        <p:spPr/>
        <p:txBody>
          <a:bodyPr/>
          <a:lstStyle/>
          <a:p>
            <a:fld id="{A5AC38AE-728F-4776-8898-04D0493AA6A4}" type="slidenum">
              <a:rPr lang="en-GB" smtClean="0"/>
              <a:t>‹#›</a:t>
            </a:fld>
            <a:endParaRPr lang="en-GB"/>
          </a:p>
        </p:txBody>
      </p:sp>
    </p:spTree>
    <p:extLst>
      <p:ext uri="{BB962C8B-B14F-4D97-AF65-F5344CB8AC3E}">
        <p14:creationId xmlns:p14="http://schemas.microsoft.com/office/powerpoint/2010/main" val="2205382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90D58-7D80-4F8E-AD7B-1BA7AB18196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F47E5D4-7D0B-049A-05E4-B1A3E45B4E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2A0C87E-90A4-A07A-FD0B-DE32F8129121}"/>
              </a:ext>
            </a:extLst>
          </p:cNvPr>
          <p:cNvSpPr>
            <a:spLocks noGrp="1"/>
          </p:cNvSpPr>
          <p:nvPr>
            <p:ph type="dt" sz="half" idx="10"/>
          </p:nvPr>
        </p:nvSpPr>
        <p:spPr/>
        <p:txBody>
          <a:bodyPr/>
          <a:lstStyle/>
          <a:p>
            <a:fld id="{9A509719-265E-4B64-B8C4-EB3E7FDE2E53}" type="datetimeFigureOut">
              <a:rPr lang="en-GB" smtClean="0"/>
              <a:t>30/08/2026</a:t>
            </a:fld>
            <a:endParaRPr lang="en-GB"/>
          </a:p>
        </p:txBody>
      </p:sp>
      <p:sp>
        <p:nvSpPr>
          <p:cNvPr id="5" name="Footer Placeholder 4">
            <a:extLst>
              <a:ext uri="{FF2B5EF4-FFF2-40B4-BE49-F238E27FC236}">
                <a16:creationId xmlns:a16="http://schemas.microsoft.com/office/drawing/2014/main" id="{DEA0E6D0-DF11-E525-C0AA-6C00B714D65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3DBC555-5AF0-25ED-CF9D-84689EF86C2B}"/>
              </a:ext>
            </a:extLst>
          </p:cNvPr>
          <p:cNvSpPr>
            <a:spLocks noGrp="1"/>
          </p:cNvSpPr>
          <p:nvPr>
            <p:ph type="sldNum" sz="quarter" idx="12"/>
          </p:nvPr>
        </p:nvSpPr>
        <p:spPr/>
        <p:txBody>
          <a:bodyPr/>
          <a:lstStyle/>
          <a:p>
            <a:fld id="{A5AC38AE-728F-4776-8898-04D0493AA6A4}" type="slidenum">
              <a:rPr lang="en-GB" smtClean="0"/>
              <a:t>‹#›</a:t>
            </a:fld>
            <a:endParaRPr lang="en-GB"/>
          </a:p>
        </p:txBody>
      </p:sp>
    </p:spTree>
    <p:extLst>
      <p:ext uri="{BB962C8B-B14F-4D97-AF65-F5344CB8AC3E}">
        <p14:creationId xmlns:p14="http://schemas.microsoft.com/office/powerpoint/2010/main" val="4226269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775133-9369-4844-1B18-F40B3D70AEA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1973817-1DE1-D657-AB99-629053C37A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05402AC-253F-C864-499D-C7C308036B33}"/>
              </a:ext>
            </a:extLst>
          </p:cNvPr>
          <p:cNvSpPr>
            <a:spLocks noGrp="1"/>
          </p:cNvSpPr>
          <p:nvPr>
            <p:ph type="dt" sz="half" idx="10"/>
          </p:nvPr>
        </p:nvSpPr>
        <p:spPr/>
        <p:txBody>
          <a:bodyPr/>
          <a:lstStyle/>
          <a:p>
            <a:fld id="{9A509719-265E-4B64-B8C4-EB3E7FDE2E53}" type="datetimeFigureOut">
              <a:rPr lang="en-GB" smtClean="0"/>
              <a:t>30/08/2026</a:t>
            </a:fld>
            <a:endParaRPr lang="en-GB"/>
          </a:p>
        </p:txBody>
      </p:sp>
      <p:sp>
        <p:nvSpPr>
          <p:cNvPr id="5" name="Footer Placeholder 4">
            <a:extLst>
              <a:ext uri="{FF2B5EF4-FFF2-40B4-BE49-F238E27FC236}">
                <a16:creationId xmlns:a16="http://schemas.microsoft.com/office/drawing/2014/main" id="{F7A86B5C-5BDC-518D-810C-90BEF6445EE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9915CB5-2153-6EA6-5435-9BB3D1D835BB}"/>
              </a:ext>
            </a:extLst>
          </p:cNvPr>
          <p:cNvSpPr>
            <a:spLocks noGrp="1"/>
          </p:cNvSpPr>
          <p:nvPr>
            <p:ph type="sldNum" sz="quarter" idx="12"/>
          </p:nvPr>
        </p:nvSpPr>
        <p:spPr/>
        <p:txBody>
          <a:bodyPr/>
          <a:lstStyle/>
          <a:p>
            <a:fld id="{A5AC38AE-728F-4776-8898-04D0493AA6A4}" type="slidenum">
              <a:rPr lang="en-GB" smtClean="0"/>
              <a:t>‹#›</a:t>
            </a:fld>
            <a:endParaRPr lang="en-GB"/>
          </a:p>
        </p:txBody>
      </p:sp>
    </p:spTree>
    <p:extLst>
      <p:ext uri="{BB962C8B-B14F-4D97-AF65-F5344CB8AC3E}">
        <p14:creationId xmlns:p14="http://schemas.microsoft.com/office/powerpoint/2010/main" val="7318093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4D995-E863-DC19-CDF4-BEAE016A8E45}"/>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458E8F5-2FC5-97DC-E9F5-D849B50BAACE}"/>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DCD7D63-BF80-4A6C-20C1-C251E9AA3CB9}"/>
              </a:ext>
            </a:extLst>
          </p:cNvPr>
          <p:cNvSpPr>
            <a:spLocks noGrp="1"/>
          </p:cNvSpPr>
          <p:nvPr>
            <p:ph type="dt" sz="half" idx="10"/>
          </p:nvPr>
        </p:nvSpPr>
        <p:spPr/>
        <p:txBody>
          <a:bodyPr/>
          <a:lstStyle/>
          <a:p>
            <a:fld id="{9A509719-265E-4B64-B8C4-EB3E7FDE2E53}" type="datetimeFigureOut">
              <a:rPr lang="en-GB" smtClean="0"/>
              <a:t>30/08/2026</a:t>
            </a:fld>
            <a:endParaRPr lang="en-GB"/>
          </a:p>
        </p:txBody>
      </p:sp>
      <p:sp>
        <p:nvSpPr>
          <p:cNvPr id="5" name="Footer Placeholder 4">
            <a:extLst>
              <a:ext uri="{FF2B5EF4-FFF2-40B4-BE49-F238E27FC236}">
                <a16:creationId xmlns:a16="http://schemas.microsoft.com/office/drawing/2014/main" id="{D4BDF462-AC43-84E1-219A-467C4E7253C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538C25C-875E-D2B6-7F84-FEC6859403FA}"/>
              </a:ext>
            </a:extLst>
          </p:cNvPr>
          <p:cNvSpPr>
            <a:spLocks noGrp="1"/>
          </p:cNvSpPr>
          <p:nvPr>
            <p:ph type="sldNum" sz="quarter" idx="12"/>
          </p:nvPr>
        </p:nvSpPr>
        <p:spPr/>
        <p:txBody>
          <a:bodyPr/>
          <a:lstStyle/>
          <a:p>
            <a:fld id="{A5AC38AE-728F-4776-8898-04D0493AA6A4}" type="slidenum">
              <a:rPr lang="en-GB" smtClean="0"/>
              <a:t>‹#›</a:t>
            </a:fld>
            <a:endParaRPr lang="en-GB"/>
          </a:p>
        </p:txBody>
      </p:sp>
    </p:spTree>
    <p:extLst>
      <p:ext uri="{BB962C8B-B14F-4D97-AF65-F5344CB8AC3E}">
        <p14:creationId xmlns:p14="http://schemas.microsoft.com/office/powerpoint/2010/main" val="26318696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606D45-CAB2-0D8E-9D1C-D765781511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2AA6885-783D-7381-B7C2-14394220DE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52DA2E1-16A5-58E5-746B-3212AAB984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A509719-265E-4B64-B8C4-EB3E7FDE2E53}" type="datetimeFigureOut">
              <a:rPr lang="en-GB" smtClean="0"/>
              <a:t>30/08/2026</a:t>
            </a:fld>
            <a:endParaRPr lang="en-GB"/>
          </a:p>
        </p:txBody>
      </p:sp>
      <p:sp>
        <p:nvSpPr>
          <p:cNvPr id="5" name="Footer Placeholder 4">
            <a:extLst>
              <a:ext uri="{FF2B5EF4-FFF2-40B4-BE49-F238E27FC236}">
                <a16:creationId xmlns:a16="http://schemas.microsoft.com/office/drawing/2014/main" id="{3E037928-937A-7B30-9F6F-6C2E4B4F7C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B9C93DC3-F5CD-E66D-377B-B593A97EF8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5AC38AE-728F-4776-8898-04D0493AA6A4}" type="slidenum">
              <a:rPr lang="en-GB" smtClean="0"/>
              <a:t>‹#›</a:t>
            </a:fld>
            <a:endParaRPr lang="en-GB"/>
          </a:p>
        </p:txBody>
      </p:sp>
    </p:spTree>
    <p:extLst>
      <p:ext uri="{BB962C8B-B14F-4D97-AF65-F5344CB8AC3E}">
        <p14:creationId xmlns:p14="http://schemas.microsoft.com/office/powerpoint/2010/main" val="294866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2D4F9-ACEF-3D9C-461E-156ACEF32D2F}"/>
              </a:ext>
            </a:extLst>
          </p:cNvPr>
          <p:cNvSpPr>
            <a:spLocks noGrp="1"/>
          </p:cNvSpPr>
          <p:nvPr>
            <p:ph type="ctrTitle"/>
          </p:nvPr>
        </p:nvSpPr>
        <p:spPr/>
        <p:txBody>
          <a:bodyPr>
            <a:normAutofit/>
          </a:bodyPr>
          <a:lstStyle/>
          <a:p>
            <a:r>
              <a:rPr lang="en-US" sz="3600" b="1"/>
              <a:t>CampusMind AI
An AI-Driven Smart Lifestyle Companion for Academic Professionals</a:t>
            </a:r>
            <a:endParaRPr lang="en-GB" sz="3600" b="1"/>
          </a:p>
        </p:txBody>
      </p:sp>
      <p:sp>
        <p:nvSpPr>
          <p:cNvPr id="3" name="Subtitle 2">
            <a:extLst>
              <a:ext uri="{FF2B5EF4-FFF2-40B4-BE49-F238E27FC236}">
                <a16:creationId xmlns:a16="http://schemas.microsoft.com/office/drawing/2014/main" id="{AEB14138-1298-B0EC-AC57-90A4A88D0C68}"/>
              </a:ext>
            </a:extLst>
          </p:cNvPr>
          <p:cNvSpPr>
            <a:spLocks noGrp="1"/>
          </p:cNvSpPr>
          <p:nvPr>
            <p:ph type="subTitle" idx="1"/>
          </p:nvPr>
        </p:nvSpPr>
        <p:spPr/>
        <p:txBody>
          <a:bodyPr>
            <a:normAutofit/>
          </a:bodyPr>
          <a:lstStyle/>
          <a:p>
            <a:r>
              <a:rPr lang="en-US" sz="2000"/>
              <a:t>CMP 7003 - Emerging Mobile Applications
PRES1 - Presentation
[Your Name] | [Student ID] | [Date]</a:t>
            </a:r>
            <a:endParaRPr lang="en-GB" sz="2000"/>
          </a:p>
        </p:txBody>
      </p:sp>
    </p:spTree>
    <p:extLst>
      <p:ext uri="{BB962C8B-B14F-4D97-AF65-F5344CB8AC3E}">
        <p14:creationId xmlns:p14="http://schemas.microsoft.com/office/powerpoint/2010/main" val="1720351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1E7F1-82F9-2023-75BE-95D9F43A1349}"/>
              </a:ext>
            </a:extLst>
          </p:cNvPr>
          <p:cNvSpPr>
            <a:spLocks noGrp="1"/>
          </p:cNvSpPr>
          <p:nvPr>
            <p:ph type="title"/>
          </p:nvPr>
        </p:nvSpPr>
        <p:spPr/>
        <p:txBody>
          <a:bodyPr>
            <a:normAutofit/>
          </a:bodyPr>
          <a:lstStyle/>
          <a:p>
            <a:r>
              <a:rPr lang="en-GB" sz="3200" b="1"/>
              <a:t>Presentation Agenda</a:t>
            </a:r>
          </a:p>
        </p:txBody>
      </p:sp>
      <p:sp>
        <p:nvSpPr>
          <p:cNvPr id="3" name="Text Placeholder 2">
            <a:extLst>
              <a:ext uri="{FF2B5EF4-FFF2-40B4-BE49-F238E27FC236}">
                <a16:creationId xmlns:a16="http://schemas.microsoft.com/office/drawing/2014/main" id="{80FBF1A5-B5A5-BA83-51C2-1C16A964DBE7}"/>
              </a:ext>
            </a:extLst>
          </p:cNvPr>
          <p:cNvSpPr>
            <a:spLocks noGrp="1"/>
          </p:cNvSpPr>
          <p:nvPr>
            <p:ph type="body" idx="1"/>
          </p:nvPr>
        </p:nvSpPr>
        <p:spPr/>
        <p:txBody>
          <a:bodyPr>
            <a:noAutofit/>
          </a:bodyPr>
          <a:lstStyle/>
          <a:p>
            <a:pPr>
              <a:spcAft>
                <a:spcPts val="1200"/>
              </a:spcAft>
            </a:pPr>
            <a:r>
              <a:rPr lang="en-US" sz="1800"/>
              <a:t>1. Problem Definition - The Academic Workload Crisis
2. Introducing CampusMind AI - Vision and Scope
3. Technology Stack and Justification
4. System Architecture
5. Live Application Demonstration
6. Design Decision Justifications
7. Summary and Future Enhancements
8. Q&amp;A</a:t>
            </a:r>
            <a:endParaRPr lang="en-GB" sz="1800"/>
          </a:p>
        </p:txBody>
      </p:sp>
    </p:spTree>
    <p:extLst>
      <p:ext uri="{BB962C8B-B14F-4D97-AF65-F5344CB8AC3E}">
        <p14:creationId xmlns:p14="http://schemas.microsoft.com/office/powerpoint/2010/main" val="1381716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4AF7D-A313-A67D-3CF8-C2279B8634E7}"/>
              </a:ext>
            </a:extLst>
          </p:cNvPr>
          <p:cNvSpPr>
            <a:spLocks noGrp="1"/>
          </p:cNvSpPr>
          <p:nvPr>
            <p:ph type="title"/>
          </p:nvPr>
        </p:nvSpPr>
        <p:spPr/>
        <p:txBody>
          <a:bodyPr>
            <a:normAutofit/>
          </a:bodyPr>
          <a:lstStyle/>
          <a:p>
            <a:r>
              <a:rPr lang="en-US" sz="3200" b="1"/>
              <a:t>The Problem: Academic Workload Crisis</a:t>
            </a:r>
            <a:endParaRPr lang="en-GB" sz="3200" b="1"/>
          </a:p>
        </p:txBody>
      </p:sp>
      <p:sp>
        <p:nvSpPr>
          <p:cNvPr id="3" name="Text Placeholder 2">
            <a:extLst>
              <a:ext uri="{FF2B5EF4-FFF2-40B4-BE49-F238E27FC236}">
                <a16:creationId xmlns:a16="http://schemas.microsoft.com/office/drawing/2014/main" id="{58A6D5F8-AA86-7FBC-B5C9-178C01078F32}"/>
              </a:ext>
            </a:extLst>
          </p:cNvPr>
          <p:cNvSpPr>
            <a:spLocks noGrp="1"/>
          </p:cNvSpPr>
          <p:nvPr>
            <p:ph type="body" idx="1"/>
          </p:nvPr>
        </p:nvSpPr>
        <p:spPr/>
        <p:txBody>
          <a:bodyPr>
            <a:noAutofit/>
          </a:bodyPr>
          <a:lstStyle/>
          <a:p>
            <a:pPr>
              <a:spcAft>
                <a:spcPts val="1200"/>
              </a:spcAft>
            </a:pPr>
            <a:r>
              <a:rPr lang="en-US" sz="1800"/>
              <a:t>University academics juggle multiple demanding roles simultaneously:
	 Teaching and curriculum delivery
	 Research supervision and publication pressure
	 Committee memberships and administrative duties
	 Quality assurance and accreditation compliance
	 Student pastoral care and mentorship
Key Statistics:
	 Guthrie et al. (2017) found UK academics report significantly higher burnout than the general working population
	 Watts and Robertson (2011) identified workload as the primary driver of academic burnout
	 Maslach and Leiter (2016) established that organisational interventions outperform individual coping strategies</a:t>
            </a:r>
            <a:endParaRPr lang="en-GB" sz="1800"/>
          </a:p>
        </p:txBody>
      </p:sp>
    </p:spTree>
    <p:extLst>
      <p:ext uri="{BB962C8B-B14F-4D97-AF65-F5344CB8AC3E}">
        <p14:creationId xmlns:p14="http://schemas.microsoft.com/office/powerpoint/2010/main" val="3106218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AEF6E-A4E4-F798-8997-D995FAF1CAB3}"/>
              </a:ext>
            </a:extLst>
          </p:cNvPr>
          <p:cNvSpPr>
            <a:spLocks noGrp="1"/>
          </p:cNvSpPr>
          <p:nvPr>
            <p:ph type="title"/>
          </p:nvPr>
        </p:nvSpPr>
        <p:spPr/>
        <p:txBody>
          <a:bodyPr>
            <a:normAutofit/>
          </a:bodyPr>
          <a:lstStyle/>
          <a:p>
            <a:r>
              <a:rPr lang="en-US" sz="3200" b="1"/>
              <a:t>The Gap in Existing Solutions</a:t>
            </a:r>
            <a:endParaRPr lang="en-GB" sz="3200" b="1"/>
          </a:p>
        </p:txBody>
      </p:sp>
      <p:sp>
        <p:nvSpPr>
          <p:cNvPr id="3" name="Text Placeholder 2">
            <a:extLst>
              <a:ext uri="{FF2B5EF4-FFF2-40B4-BE49-F238E27FC236}">
                <a16:creationId xmlns:a16="http://schemas.microsoft.com/office/drawing/2014/main" id="{9FA1DCA4-B93C-7AA1-06CF-F96C406A779F}"/>
              </a:ext>
            </a:extLst>
          </p:cNvPr>
          <p:cNvSpPr>
            <a:spLocks noGrp="1"/>
          </p:cNvSpPr>
          <p:nvPr>
            <p:ph type="body" idx="1"/>
          </p:nvPr>
        </p:nvSpPr>
        <p:spPr/>
        <p:txBody>
          <a:bodyPr>
            <a:noAutofit/>
          </a:bodyPr>
          <a:lstStyle/>
          <a:p>
            <a:pPr>
              <a:spcAft>
                <a:spcPts val="1200"/>
              </a:spcAft>
            </a:pPr>
            <a:r>
              <a:rPr lang="en-US" sz="1800"/>
              <a:t>Existing tools address parts of the problem, but none offer a unified solution:
  Microsoft Viva Insights
	 Enterprise-focused, no academic-specific features
	 No supervision tracking, no accreditation management
  Headspace / Calm
	 Wellness only, no connection to professional workload data
  Notion / Todoist
	 Productivity tools, no AI-driven contextual recommendations
	 No burnout scoring or wellness integration
The Gap: No single application exists at the intersection of
productivity, wellness, and institutional compliance for academics</a:t>
            </a:r>
            <a:endParaRPr lang="en-GB" sz="1800"/>
          </a:p>
        </p:txBody>
      </p:sp>
    </p:spTree>
    <p:extLst>
      <p:ext uri="{BB962C8B-B14F-4D97-AF65-F5344CB8AC3E}">
        <p14:creationId xmlns:p14="http://schemas.microsoft.com/office/powerpoint/2010/main" val="3131730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97DAF-499E-E88C-D54D-6B09E69A3107}"/>
              </a:ext>
            </a:extLst>
          </p:cNvPr>
          <p:cNvSpPr>
            <a:spLocks noGrp="1"/>
          </p:cNvSpPr>
          <p:nvPr>
            <p:ph type="title"/>
          </p:nvPr>
        </p:nvSpPr>
        <p:spPr/>
        <p:txBody>
          <a:bodyPr>
            <a:normAutofit/>
          </a:bodyPr>
          <a:lstStyle/>
          <a:p>
            <a:r>
              <a:rPr lang="en-GB" sz="3200" b="1"/>
              <a:t>Introducing CampusMind AI</a:t>
            </a:r>
          </a:p>
        </p:txBody>
      </p:sp>
      <p:sp>
        <p:nvSpPr>
          <p:cNvPr id="3" name="Text Placeholder 2">
            <a:extLst>
              <a:ext uri="{FF2B5EF4-FFF2-40B4-BE49-F238E27FC236}">
                <a16:creationId xmlns:a16="http://schemas.microsoft.com/office/drawing/2014/main" id="{0444A5E5-980C-DD1E-3729-68BB6B64D4B5}"/>
              </a:ext>
            </a:extLst>
          </p:cNvPr>
          <p:cNvSpPr>
            <a:spLocks noGrp="1"/>
          </p:cNvSpPr>
          <p:nvPr>
            <p:ph type="body" idx="1"/>
          </p:nvPr>
        </p:nvSpPr>
        <p:spPr/>
        <p:txBody>
          <a:bodyPr>
            <a:noAutofit/>
          </a:bodyPr>
          <a:lstStyle/>
          <a:p>
            <a:pPr>
              <a:spcAft>
                <a:spcPts val="1200"/>
              </a:spcAft>
            </a:pPr>
            <a:r>
              <a:rPr lang="en-GB" sz="1800"/>
              <a:t>An intelligent mobile companion for university academic staff
Three Integrated Workspaces:
  1. Personal Hub
	 Dashboard, AI Planner, Research Pipeline, Meetings, Burnout Monitoring
  2. Institutional Hub
	 Accreditation, Curriculum Reviews, Audits, Compliance Reports, QA Documents
  3. Directory Hub
	 Staff Search, Faculty Profiles, Publications
AI-Powered Core Features:
	 Schedule generation, Email drafting, Workload analysis
	 Burnout risk assessment, Compliance report generation
	 Context-aware chat assistant available on every screen</a:t>
            </a:r>
          </a:p>
        </p:txBody>
      </p:sp>
    </p:spTree>
    <p:extLst>
      <p:ext uri="{BB962C8B-B14F-4D97-AF65-F5344CB8AC3E}">
        <p14:creationId xmlns:p14="http://schemas.microsoft.com/office/powerpoint/2010/main" val="3043945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CD510-BB7E-0981-2B6A-8BAE5BFEC246}"/>
              </a:ext>
            </a:extLst>
          </p:cNvPr>
          <p:cNvSpPr>
            <a:spLocks noGrp="1"/>
          </p:cNvSpPr>
          <p:nvPr>
            <p:ph type="title"/>
          </p:nvPr>
        </p:nvSpPr>
        <p:spPr/>
        <p:txBody>
          <a:bodyPr>
            <a:normAutofit/>
          </a:bodyPr>
          <a:lstStyle/>
          <a:p>
            <a:r>
              <a:rPr lang="en-GB" sz="3200" b="1"/>
              <a:t>Technology Stack</a:t>
            </a:r>
          </a:p>
        </p:txBody>
      </p:sp>
      <p:sp>
        <p:nvSpPr>
          <p:cNvPr id="3" name="Text Placeholder 2">
            <a:extLst>
              <a:ext uri="{FF2B5EF4-FFF2-40B4-BE49-F238E27FC236}">
                <a16:creationId xmlns:a16="http://schemas.microsoft.com/office/drawing/2014/main" id="{76D37792-737D-CA0D-551C-9F59EA66EDF7}"/>
              </a:ext>
            </a:extLst>
          </p:cNvPr>
          <p:cNvSpPr>
            <a:spLocks noGrp="1"/>
          </p:cNvSpPr>
          <p:nvPr>
            <p:ph type="body" idx="1"/>
          </p:nvPr>
        </p:nvSpPr>
        <p:spPr/>
        <p:txBody>
          <a:bodyPr>
            <a:noAutofit/>
          </a:bodyPr>
          <a:lstStyle/>
          <a:p>
            <a:pPr>
              <a:spcAft>
                <a:spcPts val="1200"/>
              </a:spcAft>
            </a:pPr>
            <a:r>
              <a:rPr lang="en-GB" sz="1800"/>
              <a:t>Layer                           Technology
------------------------------------------------------
Frontend Framework       React Native (Expo SDK 54)
Language                      TypeScript
Routing                         Expo Router v6 (File-based)
Backend / Database       Firebase Firestore (Real-time)
Authentication              Firebase Auth (Email/Password)
AI Engine                      Google Gemini 3.6 Flash (REST API)
UI Enhancements          expo-blur, expo-linear-gradient, expo-haptics
State Management        React Context API
Charts                           react-native-chart-kit (SVG)
Animations                   react-native-reanimated</a:t>
            </a:r>
          </a:p>
        </p:txBody>
      </p:sp>
    </p:spTree>
    <p:extLst>
      <p:ext uri="{BB962C8B-B14F-4D97-AF65-F5344CB8AC3E}">
        <p14:creationId xmlns:p14="http://schemas.microsoft.com/office/powerpoint/2010/main" val="2889414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584876-2886-E952-882C-5351BD2AB294}"/>
              </a:ext>
            </a:extLst>
          </p:cNvPr>
          <p:cNvSpPr txBox="1"/>
          <p:nvPr/>
        </p:nvSpPr>
        <p:spPr>
          <a:xfrm>
            <a:off x="508000" y="254000"/>
            <a:ext cx="11176000" cy="584775"/>
          </a:xfrm>
          <a:prstGeom prst="rect">
            <a:avLst/>
          </a:prstGeom>
          <a:noFill/>
        </p:spPr>
        <p:txBody>
          <a:bodyPr vert="horz" rtlCol="0">
            <a:spAutoFit/>
          </a:bodyPr>
          <a:lstStyle/>
          <a:p>
            <a:r>
              <a:rPr lang="en-GB" sz="3200" b="1"/>
              <a:t>System Architecture</a:t>
            </a:r>
          </a:p>
        </p:txBody>
      </p:sp>
      <p:sp>
        <p:nvSpPr>
          <p:cNvPr id="3" name="TextBox 2">
            <a:extLst>
              <a:ext uri="{FF2B5EF4-FFF2-40B4-BE49-F238E27FC236}">
                <a16:creationId xmlns:a16="http://schemas.microsoft.com/office/drawing/2014/main" id="{0ED68ACD-EA48-BDB1-07C0-F13654F03857}"/>
              </a:ext>
            </a:extLst>
          </p:cNvPr>
          <p:cNvSpPr txBox="1"/>
          <p:nvPr/>
        </p:nvSpPr>
        <p:spPr>
          <a:xfrm>
            <a:off x="1524000" y="1270000"/>
            <a:ext cx="9144000" cy="3539430"/>
          </a:xfrm>
          <a:prstGeom prst="rect">
            <a:avLst/>
          </a:prstGeom>
          <a:noFill/>
          <a:ln cap="sq">
            <a:solidFill>
              <a:schemeClr val="tx1"/>
            </a:solidFill>
            <a:prstDash val="dot"/>
          </a:ln>
        </p:spPr>
        <p:txBody>
          <a:bodyPr vert="horz" rtlCol="0">
            <a:spAutoFit/>
          </a:bodyPr>
          <a:lstStyle/>
          <a:p>
            <a:pPr algn="ctr"/>
            <a:r>
              <a:rPr lang="en-GB" sz="1600"/>
              <a:t>[INSERT Figure 2: System Architecture Diagram HERE]
Presentation Layer (Expo Router Screens)
  - Personal Hub | Institutional Hub | Directory Hub
Service Layer
  - firestore.ts | gemini.ts | wellnessAI.ts
  - calendarSync.ts | notificationService.ts
Data Layer
  - Firebase Auth | Firestore (17+ Collections) | Gemini API
Replace this text box with the System Architecture diagram image
(Figure2_SystemArchitecture.png)</a:t>
            </a:r>
          </a:p>
        </p:txBody>
      </p:sp>
    </p:spTree>
    <p:extLst>
      <p:ext uri="{BB962C8B-B14F-4D97-AF65-F5344CB8AC3E}">
        <p14:creationId xmlns:p14="http://schemas.microsoft.com/office/powerpoint/2010/main" val="3818866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FA69F6-C427-0009-9643-FE804431762A}"/>
              </a:ext>
            </a:extLst>
          </p:cNvPr>
          <p:cNvSpPr txBox="1"/>
          <p:nvPr/>
        </p:nvSpPr>
        <p:spPr>
          <a:xfrm>
            <a:off x="508000" y="254000"/>
            <a:ext cx="11176000" cy="584775"/>
          </a:xfrm>
          <a:prstGeom prst="rect">
            <a:avLst/>
          </a:prstGeom>
          <a:noFill/>
        </p:spPr>
        <p:txBody>
          <a:bodyPr vert="horz" rtlCol="0">
            <a:spAutoFit/>
          </a:bodyPr>
          <a:lstStyle/>
          <a:p>
            <a:r>
              <a:rPr lang="en-GB" sz="3200" b="1"/>
              <a:t>Dynamic Workspace Navigation</a:t>
            </a:r>
          </a:p>
        </p:txBody>
      </p:sp>
      <p:sp>
        <p:nvSpPr>
          <p:cNvPr id="3" name="TextBox 2">
            <a:extLst>
              <a:ext uri="{FF2B5EF4-FFF2-40B4-BE49-F238E27FC236}">
                <a16:creationId xmlns:a16="http://schemas.microsoft.com/office/drawing/2014/main" id="{927B91AF-80A3-F4B4-ABE9-90287D6269ED}"/>
              </a:ext>
            </a:extLst>
          </p:cNvPr>
          <p:cNvSpPr txBox="1"/>
          <p:nvPr/>
        </p:nvSpPr>
        <p:spPr>
          <a:xfrm>
            <a:off x="1524000" y="1270000"/>
            <a:ext cx="9144000" cy="3046988"/>
          </a:xfrm>
          <a:prstGeom prst="rect">
            <a:avLst/>
          </a:prstGeom>
          <a:noFill/>
          <a:ln cap="sq">
            <a:solidFill>
              <a:schemeClr val="tx1"/>
            </a:solidFill>
            <a:prstDash val="dot"/>
          </a:ln>
        </p:spPr>
        <p:txBody>
          <a:bodyPr vert="horz" rtlCol="0">
            <a:spAutoFit/>
          </a:bodyPr>
          <a:lstStyle/>
          <a:p>
            <a:pPr algn="ctr"/>
            <a:r>
              <a:rPr lang="en-GB" sz="1600"/>
              <a:t>[INSERT Figure 3: Workspace Navigation Architecture HERE]
Single Tab Navigator with Conditional href Props
SettingsContext (activeWorkspace) injects state into Tab Layout
  workspace == 'personal'       -&gt; Personal tabs visible, others hidden
  workspace == 'institutional'  -&gt; Institutional tabs visible
  workspace == 'directory'       -&gt; Directory tabs visible
Replace this text box with the Workspace Navigation diagram
(Figure3_WorkspaceNavigation.png)</a:t>
            </a:r>
          </a:p>
        </p:txBody>
      </p:sp>
    </p:spTree>
    <p:extLst>
      <p:ext uri="{BB962C8B-B14F-4D97-AF65-F5344CB8AC3E}">
        <p14:creationId xmlns:p14="http://schemas.microsoft.com/office/powerpoint/2010/main" val="3350322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B8703-0474-3FBE-593C-A8477FF4F88A}"/>
              </a:ext>
            </a:extLst>
          </p:cNvPr>
          <p:cNvSpPr>
            <a:spLocks noGrp="1"/>
          </p:cNvSpPr>
          <p:nvPr>
            <p:ph type="title"/>
          </p:nvPr>
        </p:nvSpPr>
        <p:spPr/>
        <p:txBody>
          <a:bodyPr>
            <a:normAutofit/>
          </a:bodyPr>
          <a:lstStyle/>
          <a:p>
            <a:r>
              <a:rPr lang="en-GB" sz="3200" b="1"/>
              <a:t>Demo: Dashboard &amp; Personal Hub</a:t>
            </a:r>
          </a:p>
        </p:txBody>
      </p:sp>
      <p:sp>
        <p:nvSpPr>
          <p:cNvPr id="3" name="Text Placeholder 2">
            <a:extLst>
              <a:ext uri="{FF2B5EF4-FFF2-40B4-BE49-F238E27FC236}">
                <a16:creationId xmlns:a16="http://schemas.microsoft.com/office/drawing/2014/main" id="{B2A93D17-FB2C-25F3-EB47-5D28B34C100A}"/>
              </a:ext>
            </a:extLst>
          </p:cNvPr>
          <p:cNvSpPr>
            <a:spLocks noGrp="1"/>
          </p:cNvSpPr>
          <p:nvPr>
            <p:ph type="body" idx="1"/>
          </p:nvPr>
        </p:nvSpPr>
        <p:spPr/>
        <p:txBody>
          <a:bodyPr>
            <a:noAutofit/>
          </a:bodyPr>
          <a:lstStyle/>
          <a:p>
            <a:pPr>
              <a:spcAft>
                <a:spcPts val="1200"/>
              </a:spcAft>
            </a:pPr>
            <a:r>
              <a:rPr lang="en-US" sz="1800"/>
              <a:t>[INSERT Screenshot: Dashboard Screen - Light Mode]
Dashboard Features:
	 Personalised greeting with time-of-day awareness
	 Quick stats bar: Today's tasks, Workload %, Burnout Risk %, Research count
	 Today's schedule with colour-coded type badges
	 Well-being summary card with trend indicator
	 Workload distribution card
	 AI-generated insights and pending email drafts
	 Quick action grid for common tasks
Real-Time Data: 5 concurrent Firestore onSnapshot listeners
keep the dashboard always up-to-date without manual refresh</a:t>
            </a:r>
            <a:endParaRPr lang="en-GB" sz="1800"/>
          </a:p>
        </p:txBody>
      </p:sp>
    </p:spTree>
    <p:extLst>
      <p:ext uri="{BB962C8B-B14F-4D97-AF65-F5344CB8AC3E}">
        <p14:creationId xmlns:p14="http://schemas.microsoft.com/office/powerpoint/2010/main" val="1028096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64AF5-8933-9886-9515-70EC0F89536A}"/>
              </a:ext>
            </a:extLst>
          </p:cNvPr>
          <p:cNvSpPr>
            <a:spLocks noGrp="1"/>
          </p:cNvSpPr>
          <p:nvPr>
            <p:ph type="title"/>
          </p:nvPr>
        </p:nvSpPr>
        <p:spPr/>
        <p:txBody>
          <a:bodyPr>
            <a:normAutofit/>
          </a:bodyPr>
          <a:lstStyle/>
          <a:p>
            <a:r>
              <a:rPr lang="it-IT" sz="3200" b="1"/>
              <a:t>Demo: AI Assistant &amp; Email Drafting</a:t>
            </a:r>
            <a:endParaRPr lang="en-GB" sz="3200" b="1"/>
          </a:p>
        </p:txBody>
      </p:sp>
      <p:sp>
        <p:nvSpPr>
          <p:cNvPr id="3" name="Text Placeholder 2">
            <a:extLst>
              <a:ext uri="{FF2B5EF4-FFF2-40B4-BE49-F238E27FC236}">
                <a16:creationId xmlns:a16="http://schemas.microsoft.com/office/drawing/2014/main" id="{B585580D-4B8C-A761-338D-AA3156A7BCA7}"/>
              </a:ext>
            </a:extLst>
          </p:cNvPr>
          <p:cNvSpPr>
            <a:spLocks noGrp="1"/>
          </p:cNvSpPr>
          <p:nvPr>
            <p:ph type="body" idx="1"/>
          </p:nvPr>
        </p:nvSpPr>
        <p:spPr/>
        <p:txBody>
          <a:bodyPr>
            <a:noAutofit/>
          </a:bodyPr>
          <a:lstStyle/>
          <a:p>
            <a:pPr>
              <a:spcAft>
                <a:spcPts val="1200"/>
              </a:spcAft>
            </a:pPr>
            <a:r>
              <a:rPr lang="en-GB" sz="1800"/>
              <a:t>[INSERT Screenshots: AI Chat Interface + Email Draft Screen]
AI Chat Assistant:
	 Accessible from ANY screen via floating action button (FAB)
	 Pulsing gradient animation with glow effect
	 Quick action cards: Draft Email, Plan Week, Research Help, Workload Check
	 Powered by Google Gemini 3.6 Flash with 7 tailored system prompts
	 Fallback to simulated responses when API key is absent
Context-Aware Email Drafting:
	 4 context types: Student Inquiry, Extension Request,
	 Supervisor Communication, Committee Response
	 AI generates professional drafts that users can edit, save, or discard
	 Drafts stored in Firestore, accessible from Dashboard</a:t>
            </a:r>
          </a:p>
        </p:txBody>
      </p:sp>
    </p:spTree>
    <p:extLst>
      <p:ext uri="{BB962C8B-B14F-4D97-AF65-F5344CB8AC3E}">
        <p14:creationId xmlns:p14="http://schemas.microsoft.com/office/powerpoint/2010/main" val="1014563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49C41-3A80-808C-E1B5-8990F4FCB023}"/>
              </a:ext>
            </a:extLst>
          </p:cNvPr>
          <p:cNvSpPr>
            <a:spLocks noGrp="1"/>
          </p:cNvSpPr>
          <p:nvPr>
            <p:ph type="title"/>
          </p:nvPr>
        </p:nvSpPr>
        <p:spPr/>
        <p:txBody>
          <a:bodyPr>
            <a:normAutofit/>
          </a:bodyPr>
          <a:lstStyle/>
          <a:p>
            <a:r>
              <a:rPr lang="en-US" sz="3200" b="1"/>
              <a:t>Demo: Burnout Monitoring &amp; Wellness Scoring</a:t>
            </a:r>
            <a:endParaRPr lang="en-GB" sz="3200" b="1"/>
          </a:p>
        </p:txBody>
      </p:sp>
      <p:sp>
        <p:nvSpPr>
          <p:cNvPr id="3" name="Text Placeholder 2">
            <a:extLst>
              <a:ext uri="{FF2B5EF4-FFF2-40B4-BE49-F238E27FC236}">
                <a16:creationId xmlns:a16="http://schemas.microsoft.com/office/drawing/2014/main" id="{4F8A1372-D0A8-96FB-7EE4-93CB0BF55AE3}"/>
              </a:ext>
            </a:extLst>
          </p:cNvPr>
          <p:cNvSpPr>
            <a:spLocks noGrp="1"/>
          </p:cNvSpPr>
          <p:nvPr>
            <p:ph type="body" idx="1"/>
          </p:nvPr>
        </p:nvSpPr>
        <p:spPr/>
        <p:txBody>
          <a:bodyPr>
            <a:noAutofit/>
          </a:bodyPr>
          <a:lstStyle/>
          <a:p>
            <a:pPr>
              <a:spcAft>
                <a:spcPts val="1200"/>
              </a:spcAft>
            </a:pPr>
            <a:r>
              <a:rPr lang="en-US" sz="1800"/>
              <a:t>[INSERT Screenshot: Burnout Monitoring Screen]
Wellness Scoring Algorithm (runs entirely on-device):
	 Stress Level: 30% weight
	 Sleep Quality: 25% weight
	 Workload Hours: 25% weight
	 Hydration: 10% weight
	 Exercise: 10% weight
Score Categories: Excellent (80-100), Good (60-79),
Moderate (40-59), Poor (20-39), Critical (0-19)
Trend Analysis: Compares first-half vs second-half of logged data
to detect improving, stable, or declining wellness patterns
Targeted Interventions: AI suggests specific recovery actions
based on which factor is dragging the score down</a:t>
            </a:r>
            <a:endParaRPr lang="en-GB" sz="1800"/>
          </a:p>
        </p:txBody>
      </p:sp>
    </p:spTree>
    <p:extLst>
      <p:ext uri="{BB962C8B-B14F-4D97-AF65-F5344CB8AC3E}">
        <p14:creationId xmlns:p14="http://schemas.microsoft.com/office/powerpoint/2010/main" val="663635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A9BAB-1976-5643-9170-8AA27560DFDF}"/>
              </a:ext>
            </a:extLst>
          </p:cNvPr>
          <p:cNvSpPr>
            <a:spLocks noGrp="1"/>
          </p:cNvSpPr>
          <p:nvPr>
            <p:ph type="title"/>
          </p:nvPr>
        </p:nvSpPr>
        <p:spPr/>
        <p:txBody>
          <a:bodyPr>
            <a:normAutofit/>
          </a:bodyPr>
          <a:lstStyle/>
          <a:p>
            <a:r>
              <a:rPr lang="en-GB" sz="3200" b="1"/>
              <a:t>Demo: Institutional Quality Assurance Hub</a:t>
            </a:r>
          </a:p>
        </p:txBody>
      </p:sp>
      <p:sp>
        <p:nvSpPr>
          <p:cNvPr id="3" name="Text Placeholder 2">
            <a:extLst>
              <a:ext uri="{FF2B5EF4-FFF2-40B4-BE49-F238E27FC236}">
                <a16:creationId xmlns:a16="http://schemas.microsoft.com/office/drawing/2014/main" id="{568F145D-8856-E1D3-1636-B725F441BDDD}"/>
              </a:ext>
            </a:extLst>
          </p:cNvPr>
          <p:cNvSpPr>
            <a:spLocks noGrp="1"/>
          </p:cNvSpPr>
          <p:nvPr>
            <p:ph type="body" idx="1"/>
          </p:nvPr>
        </p:nvSpPr>
        <p:spPr/>
        <p:txBody>
          <a:bodyPr>
            <a:noAutofit/>
          </a:bodyPr>
          <a:lstStyle/>
          <a:p>
            <a:pPr>
              <a:spcAft>
                <a:spcPts val="1200"/>
              </a:spcAft>
            </a:pPr>
            <a:r>
              <a:rPr lang="en-US" sz="1800"/>
              <a:t>[INSERT Screenshots: Accreditation + Compliance Screens]
Institutional Hub Features:
	 Accreditation tracking with compliance scores and expiry dates
	 Curriculum review management with reviewer assignments
	 Audit records with non-conformity tracking and action items
	 AI-generated compliance reports with section breakdowns
	 QA document repository with version control
Role-Based Access Control:
	 Read access: Any authenticated user
	 Write access: Senior staff only (Senior Lecturer and above)
	 Verified at database level via Firestore Security Rules
	 getUserRole() helper reads user profile at request time
This workspace has NO equivalent in any existing productivity app</a:t>
            </a:r>
            <a:endParaRPr lang="en-GB" sz="1800"/>
          </a:p>
        </p:txBody>
      </p:sp>
    </p:spTree>
    <p:extLst>
      <p:ext uri="{BB962C8B-B14F-4D97-AF65-F5344CB8AC3E}">
        <p14:creationId xmlns:p14="http://schemas.microsoft.com/office/powerpoint/2010/main" val="2384531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4EEAB-CCFE-D64B-CE3B-F030262B6630}"/>
              </a:ext>
            </a:extLst>
          </p:cNvPr>
          <p:cNvSpPr>
            <a:spLocks noGrp="1"/>
          </p:cNvSpPr>
          <p:nvPr>
            <p:ph type="title"/>
          </p:nvPr>
        </p:nvSpPr>
        <p:spPr/>
        <p:txBody>
          <a:bodyPr>
            <a:normAutofit/>
          </a:bodyPr>
          <a:lstStyle/>
          <a:p>
            <a:r>
              <a:rPr lang="en-GB" sz="3200" b="1"/>
              <a:t>Demo: Additional Key Features</a:t>
            </a:r>
          </a:p>
        </p:txBody>
      </p:sp>
      <p:sp>
        <p:nvSpPr>
          <p:cNvPr id="3" name="Text Placeholder 2">
            <a:extLst>
              <a:ext uri="{FF2B5EF4-FFF2-40B4-BE49-F238E27FC236}">
                <a16:creationId xmlns:a16="http://schemas.microsoft.com/office/drawing/2014/main" id="{445833E7-F747-D2BA-BEAD-F5CC0275BEF4}"/>
              </a:ext>
            </a:extLst>
          </p:cNvPr>
          <p:cNvSpPr>
            <a:spLocks noGrp="1"/>
          </p:cNvSpPr>
          <p:nvPr>
            <p:ph type="body" idx="1"/>
          </p:nvPr>
        </p:nvSpPr>
        <p:spPr/>
        <p:txBody>
          <a:bodyPr>
            <a:noAutofit/>
          </a:bodyPr>
          <a:lstStyle/>
          <a:p>
            <a:pPr>
              <a:spcAft>
                <a:spcPts val="1200"/>
              </a:spcAft>
            </a:pPr>
            <a:r>
              <a:rPr lang="en-GB" sz="1800"/>
              <a:t>[INSERT Screenshots: Planner + Research + Settings]
Smart Planner:
	 AI-generated daily schedules with optimised time blocks
	 Date-based navigation with real-time Firestore sync
Research Pipeline Management:
	 Project tracking with progress bars, publication counts
	 Grant status, ethics approval, predicted delay tracking
Accessibility &amp; Personalisation:
	 Theme engine: Light, Dark, System-follow modes
	 Font scaling: Small, Medium, Large
	 High-contrast mode for visual accessibility
	 Haptic feedback on interactions
	 All preferences persisted via AsyncStorage
Notification System:
	 Configurable reminders: Ergonomic, Hydration, Deadline, Burnout, Meeting</a:t>
            </a:r>
          </a:p>
        </p:txBody>
      </p:sp>
    </p:spTree>
    <p:extLst>
      <p:ext uri="{BB962C8B-B14F-4D97-AF65-F5344CB8AC3E}">
        <p14:creationId xmlns:p14="http://schemas.microsoft.com/office/powerpoint/2010/main" val="382892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1EFBA-424E-184C-D2B9-9BBFC207A0E6}"/>
              </a:ext>
            </a:extLst>
          </p:cNvPr>
          <p:cNvSpPr>
            <a:spLocks noGrp="1"/>
          </p:cNvSpPr>
          <p:nvPr>
            <p:ph type="title"/>
          </p:nvPr>
        </p:nvSpPr>
        <p:spPr/>
        <p:txBody>
          <a:bodyPr>
            <a:normAutofit/>
          </a:bodyPr>
          <a:lstStyle/>
          <a:p>
            <a:r>
              <a:rPr lang="en-GB" sz="3200" b="1"/>
              <a:t>Justification of Design Decisions</a:t>
            </a:r>
          </a:p>
        </p:txBody>
      </p:sp>
      <p:sp>
        <p:nvSpPr>
          <p:cNvPr id="3" name="Text Placeholder 2">
            <a:extLst>
              <a:ext uri="{FF2B5EF4-FFF2-40B4-BE49-F238E27FC236}">
                <a16:creationId xmlns:a16="http://schemas.microsoft.com/office/drawing/2014/main" id="{9033259F-EE0C-3D7C-53E8-99782090BFBA}"/>
              </a:ext>
            </a:extLst>
          </p:cNvPr>
          <p:cNvSpPr>
            <a:spLocks noGrp="1"/>
          </p:cNvSpPr>
          <p:nvPr>
            <p:ph type="body" idx="1"/>
          </p:nvPr>
        </p:nvSpPr>
        <p:spPr/>
        <p:txBody>
          <a:bodyPr>
            <a:noAutofit/>
          </a:bodyPr>
          <a:lstStyle/>
          <a:p>
            <a:pPr>
              <a:spcAft>
                <a:spcPts val="1200"/>
              </a:spcAft>
            </a:pPr>
            <a:r>
              <a:rPr lang="en-GB" sz="1800"/>
              <a:t>Decision                                  Justification
-------------------------------------------------------------------
React Native + Expo              Single codebase for iOS, Android, Web.
                                             Danielsson &amp; Olsson (2018) found it
                                             suitable for complex state management
Firebase Firestore                   Real-time onSnapshot listeners ensure
(over SQL databases)              instant data sync. Serverless scaling.
                                             Moroney (2017) validated BaaS approach
Gemini API                               Low-latency generative AI with system
(over local ML models)            prompt engineering for domain specificity
Context API                             Lightweight alternative to Redux.
(over Redux)                           Only 2 global concerns: Auth + Settings
Glassmorphic UI                      Modern, clean aesthetic that reduces
                                             visual clutter. Floating tab bar creates
                                             clear separation without visual weight</a:t>
            </a:r>
          </a:p>
        </p:txBody>
      </p:sp>
    </p:spTree>
    <p:extLst>
      <p:ext uri="{BB962C8B-B14F-4D97-AF65-F5344CB8AC3E}">
        <p14:creationId xmlns:p14="http://schemas.microsoft.com/office/powerpoint/2010/main" val="22950489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84EA5-C0F2-F3E2-87EB-46A2A693B540}"/>
              </a:ext>
            </a:extLst>
          </p:cNvPr>
          <p:cNvSpPr>
            <a:spLocks noGrp="1"/>
          </p:cNvSpPr>
          <p:nvPr>
            <p:ph type="title"/>
          </p:nvPr>
        </p:nvSpPr>
        <p:spPr/>
        <p:txBody>
          <a:bodyPr>
            <a:normAutofit/>
          </a:bodyPr>
          <a:lstStyle/>
          <a:p>
            <a:r>
              <a:rPr lang="en-GB" sz="3200" b="1"/>
              <a:t>Security Implementation</a:t>
            </a:r>
          </a:p>
        </p:txBody>
      </p:sp>
      <p:sp>
        <p:nvSpPr>
          <p:cNvPr id="3" name="Text Placeholder 2">
            <a:extLst>
              <a:ext uri="{FF2B5EF4-FFF2-40B4-BE49-F238E27FC236}">
                <a16:creationId xmlns:a16="http://schemas.microsoft.com/office/drawing/2014/main" id="{055533C3-4682-35C5-6DFB-C6DA096EB43D}"/>
              </a:ext>
            </a:extLst>
          </p:cNvPr>
          <p:cNvSpPr>
            <a:spLocks noGrp="1"/>
          </p:cNvSpPr>
          <p:nvPr>
            <p:ph type="body" idx="1"/>
          </p:nvPr>
        </p:nvSpPr>
        <p:spPr/>
        <p:txBody>
          <a:bodyPr>
            <a:noAutofit/>
          </a:bodyPr>
          <a:lstStyle/>
          <a:p>
            <a:pPr>
              <a:spcAft>
                <a:spcPts val="1200"/>
              </a:spcAft>
            </a:pPr>
            <a:r>
              <a:rPr lang="en-US" sz="1800"/>
              <a:t>Three-Tier Access Control via Firestore Security Rules:
  Tier 1 - Owner-Only Access
	 Personal data (wellness logs, schedules, email drafts)
	 Only accessible by the user whose userId matches auth.uid
	 Wellness data explicitly marked as PRIVATE - never shared
  Tier 2 - Shared Read Access
	 Meeting documents readable by owner AND attendees
	 attendeeIds array checked at query time
  Tier 3 - Role-Restricted Access
	 Institutional QA collections (accreditation, audits, compliance)
	 Write requires senior academic role (verified via getUserRole())
	 Read available to all authenticated users
Authentication: Firebase Auth with AsyncStorage persistence
Environment Variables: API keys stored in .env, never hardcoded</a:t>
            </a:r>
            <a:endParaRPr lang="en-GB" sz="1800"/>
          </a:p>
        </p:txBody>
      </p:sp>
    </p:spTree>
    <p:extLst>
      <p:ext uri="{BB962C8B-B14F-4D97-AF65-F5344CB8AC3E}">
        <p14:creationId xmlns:p14="http://schemas.microsoft.com/office/powerpoint/2010/main" val="7173488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792E5-5080-D8C0-C509-0C0D37FEE68F}"/>
              </a:ext>
            </a:extLst>
          </p:cNvPr>
          <p:cNvSpPr>
            <a:spLocks noGrp="1"/>
          </p:cNvSpPr>
          <p:nvPr>
            <p:ph type="title"/>
          </p:nvPr>
        </p:nvSpPr>
        <p:spPr/>
        <p:txBody>
          <a:bodyPr>
            <a:normAutofit/>
          </a:bodyPr>
          <a:lstStyle/>
          <a:p>
            <a:r>
              <a:rPr lang="en-GB" sz="3200" b="1"/>
              <a:t>Testing and Evaluation</a:t>
            </a:r>
          </a:p>
        </p:txBody>
      </p:sp>
      <p:sp>
        <p:nvSpPr>
          <p:cNvPr id="3" name="Text Placeholder 2">
            <a:extLst>
              <a:ext uri="{FF2B5EF4-FFF2-40B4-BE49-F238E27FC236}">
                <a16:creationId xmlns:a16="http://schemas.microsoft.com/office/drawing/2014/main" id="{BD581929-B0FC-F7E1-2204-63815D8D65AF}"/>
              </a:ext>
            </a:extLst>
          </p:cNvPr>
          <p:cNvSpPr>
            <a:spLocks noGrp="1"/>
          </p:cNvSpPr>
          <p:nvPr>
            <p:ph type="body" idx="1"/>
          </p:nvPr>
        </p:nvSpPr>
        <p:spPr/>
        <p:txBody>
          <a:bodyPr>
            <a:noAutofit/>
          </a:bodyPr>
          <a:lstStyle/>
          <a:p>
            <a:pPr>
              <a:spcAft>
                <a:spcPts val="1200"/>
              </a:spcAft>
            </a:pPr>
            <a:r>
              <a:rPr lang="en-US" sz="1800"/>
              <a:t>Functional Testing: 15 test cases across all primary user flows
	 Login/Registration, CRUD operations, AI responses
	 Workspace switching, Theme toggling, Notifications
	 Role-based access restrictions
	 Result: 15/15 passed
Usability Testing: 3 postgraduate colleagues, 3-day trial period
	 Dashboard described as 'clean and not overwhelming'
	 AI button noticed immediately by all testers
	 Accessibility features confirmed working at all 3 font sizes
Performance Testing (Samsung Galaxy A54):
	 Cold start: 2.8 seconds average
	 Firestore sync latency: &lt; 300ms
	 Gemini API response: 1.2 - 1.6 seconds
Security Testing:
	 Cross-user data access blocked (permission denied)
	 Non-senior role write to audit records blocked</a:t>
            </a:r>
            <a:endParaRPr lang="en-GB" sz="1800"/>
          </a:p>
        </p:txBody>
      </p:sp>
    </p:spTree>
    <p:extLst>
      <p:ext uri="{BB962C8B-B14F-4D97-AF65-F5344CB8AC3E}">
        <p14:creationId xmlns:p14="http://schemas.microsoft.com/office/powerpoint/2010/main" val="10719712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91FB2-D9F9-A52D-CC2C-B5263C747046}"/>
              </a:ext>
            </a:extLst>
          </p:cNvPr>
          <p:cNvSpPr>
            <a:spLocks noGrp="1"/>
          </p:cNvSpPr>
          <p:nvPr>
            <p:ph type="title"/>
          </p:nvPr>
        </p:nvSpPr>
        <p:spPr/>
        <p:txBody>
          <a:bodyPr>
            <a:normAutofit/>
          </a:bodyPr>
          <a:lstStyle/>
          <a:p>
            <a:r>
              <a:rPr lang="en-GB" sz="3200" b="1"/>
              <a:t>Summary &amp; Future Enhancements</a:t>
            </a:r>
          </a:p>
        </p:txBody>
      </p:sp>
      <p:sp>
        <p:nvSpPr>
          <p:cNvPr id="3" name="Text Placeholder 2">
            <a:extLst>
              <a:ext uri="{FF2B5EF4-FFF2-40B4-BE49-F238E27FC236}">
                <a16:creationId xmlns:a16="http://schemas.microsoft.com/office/drawing/2014/main" id="{8D4A02CA-C255-B20B-3A86-1EFED32D4D00}"/>
              </a:ext>
            </a:extLst>
          </p:cNvPr>
          <p:cNvSpPr>
            <a:spLocks noGrp="1"/>
          </p:cNvSpPr>
          <p:nvPr>
            <p:ph type="body" idx="1"/>
          </p:nvPr>
        </p:nvSpPr>
        <p:spPr/>
        <p:txBody>
          <a:bodyPr>
            <a:noAutofit/>
          </a:bodyPr>
          <a:lstStyle/>
          <a:p>
            <a:pPr>
              <a:spcAft>
                <a:spcPts val="1200"/>
              </a:spcAft>
            </a:pPr>
            <a:r>
              <a:rPr lang="en-US" sz="1800"/>
              <a:t>What Was Achieved:
	 A fully functional cross-platform mobile application
	 AI-powered assistance using Google Gemini with 7 system prompts
	 Real-time data sync across 17+ Firestore collections
	 On-device burnout scoring algorithm (no health data leaves the device)
	 Role-based security at the database level
	 Three integrated workspaces covering personal, institutional, and directory needs
	 Comprehensive accessibility with theme, font scaling, and high-contrast support
Future Enhancements:
	 On-device AI inference using Gemini Nano for offline functionality
	 Wearable device integration for passive stress detection via HRV
	 Machine learning-based burnout prediction (replacing rule-based algorithm)
	 Augmented reality campus navigation for new staff
	 Push notifications via Firebase Cloud Messaging</a:t>
            </a:r>
            <a:endParaRPr lang="en-GB" sz="1800"/>
          </a:p>
        </p:txBody>
      </p:sp>
    </p:spTree>
    <p:extLst>
      <p:ext uri="{BB962C8B-B14F-4D97-AF65-F5344CB8AC3E}">
        <p14:creationId xmlns:p14="http://schemas.microsoft.com/office/powerpoint/2010/main" val="472433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1EE9E-0898-D004-AC32-1E34BB9F856B}"/>
              </a:ext>
            </a:extLst>
          </p:cNvPr>
          <p:cNvSpPr>
            <a:spLocks noGrp="1"/>
          </p:cNvSpPr>
          <p:nvPr>
            <p:ph type="ctrTitle"/>
          </p:nvPr>
        </p:nvSpPr>
        <p:spPr/>
        <p:txBody>
          <a:bodyPr>
            <a:normAutofit/>
          </a:bodyPr>
          <a:lstStyle/>
          <a:p>
            <a:r>
              <a:rPr lang="en-GB" sz="3600" b="1"/>
              <a:t>Thank You
Questions?</a:t>
            </a:r>
          </a:p>
        </p:txBody>
      </p:sp>
      <p:sp>
        <p:nvSpPr>
          <p:cNvPr id="3" name="Subtitle 2">
            <a:extLst>
              <a:ext uri="{FF2B5EF4-FFF2-40B4-BE49-F238E27FC236}">
                <a16:creationId xmlns:a16="http://schemas.microsoft.com/office/drawing/2014/main" id="{E04DABC5-D999-B7F9-7402-50217AEA4D31}"/>
              </a:ext>
            </a:extLst>
          </p:cNvPr>
          <p:cNvSpPr>
            <a:spLocks noGrp="1"/>
          </p:cNvSpPr>
          <p:nvPr>
            <p:ph type="subTitle" idx="1"/>
          </p:nvPr>
        </p:nvSpPr>
        <p:spPr/>
        <p:txBody>
          <a:bodyPr>
            <a:noAutofit/>
          </a:bodyPr>
          <a:lstStyle/>
          <a:p>
            <a:r>
              <a:rPr lang="en-US" sz="2000"/>
              <a:t>CampusMind AI - An AI-Driven Smart Lifestyle Companion
[Your Name] | [Student ID]
[Your Email]
GitHub: [Repository Link]</a:t>
            </a:r>
            <a:endParaRPr lang="en-GB" sz="2000"/>
          </a:p>
        </p:txBody>
      </p:sp>
    </p:spTree>
    <p:extLst>
      <p:ext uri="{BB962C8B-B14F-4D97-AF65-F5344CB8AC3E}">
        <p14:creationId xmlns:p14="http://schemas.microsoft.com/office/powerpoint/2010/main" val="19105963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4642</Words>
  <Application>Microsoft Office PowerPoint</Application>
  <PresentationFormat>Custom</PresentationFormat>
  <Paragraphs>72</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CampusMind AI
An AI-Driven Smart Lifestyle Companion for Academic Professionals</vt:lpstr>
      <vt:lpstr>Presentation Agenda</vt:lpstr>
      <vt:lpstr>The Problem: Academic Workload Crisis</vt:lpstr>
      <vt:lpstr>The Gap in Existing Solutions</vt:lpstr>
      <vt:lpstr>Introducing CampusMind AI</vt:lpstr>
      <vt:lpstr>Technology Stack</vt:lpstr>
      <vt:lpstr>PowerPoint Presentation</vt:lpstr>
      <vt:lpstr>PowerPoint Presentation</vt:lpstr>
      <vt:lpstr>Demo: Dashboard &amp; Personal Hub</vt:lpstr>
      <vt:lpstr>Demo: AI Assistant &amp; Email Drafting</vt:lpstr>
      <vt:lpstr>Demo: Burnout Monitoring &amp; Wellness Scoring</vt:lpstr>
      <vt:lpstr>Demo: Institutional Quality Assurance Hub</vt:lpstr>
      <vt:lpstr>Demo: Additional Key Features</vt:lpstr>
      <vt:lpstr>Justification of Design Decisions</vt:lpstr>
      <vt:lpstr>Security Implementation</vt:lpstr>
      <vt:lpstr>Testing and Evaluation</vt:lpstr>
      <vt:lpstr>Summary &amp; Future Enhancements</vt:lpstr>
      <vt:lpstr>Thank You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DEVIN VINDULA WICKRAMARATNE</dc:creator>
  <cp:lastModifiedBy>DEVIN VINDULA WICKRAMARATNE</cp:lastModifiedBy>
  <cp:revision>1</cp:revision>
  <dcterms:created xsi:type="dcterms:W3CDTF">2026-08-30T03:03:45Z</dcterms:created>
  <dcterms:modified xsi:type="dcterms:W3CDTF">2026-08-30T03:03:45Z</dcterms:modified>
</cp:coreProperties>
</file>